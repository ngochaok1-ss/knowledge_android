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strument Sans Medium"/>
      <p:regular r:id="rId17"/>
    </p:embeddedFont>
    <p:embeddedFont>
      <p:font typeface="Instrument Sans Medium"/>
      <p:regular r:id="rId18"/>
    </p:embeddedFont>
    <p:embeddedFont>
      <p:font typeface="Instrument Sans Medium"/>
      <p:regular r:id="rId19"/>
    </p:embeddedFont>
    <p:embeddedFont>
      <p:font typeface="Instrument Sans Medium"/>
      <p:regular r:id="rId20"/>
    </p:embeddedFont>
    <p:embeddedFont>
      <p:font typeface="Open Sans"/>
      <p:regular r:id="rId21"/>
    </p:embeddedFont>
    <p:embeddedFont>
      <p:font typeface="Open Sans"/>
      <p:regular r:id="rId22"/>
    </p:embeddedFont>
    <p:embeddedFont>
      <p:font typeface="Open Sans"/>
      <p:regular r:id="rId23"/>
    </p:embeddedFont>
    <p:embeddedFont>
      <p:font typeface="Open Sans"/>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svg"/><Relationship Id="rId12" Type="http://schemas.openxmlformats.org/officeDocument/2006/relationships/slideLayout" Target="../slideLayouts/slideLayout5.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408878"/>
            <a:ext cx="6197084" cy="708779"/>
          </a:xfrm>
          <a:prstGeom prst="rect">
            <a:avLst/>
          </a:prstGeom>
          <a:noFill/>
          <a:ln/>
        </p:spPr>
        <p:txBody>
          <a:bodyPr wrap="non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Release Note Extension</a:t>
            </a:r>
            <a:endParaRPr lang="en-US" sz="4450" dirty="0"/>
          </a:p>
        </p:txBody>
      </p:sp>
      <p:sp>
        <p:nvSpPr>
          <p:cNvPr id="4" name="Text 1"/>
          <p:cNvSpPr/>
          <p:nvPr/>
        </p:nvSpPr>
        <p:spPr>
          <a:xfrm>
            <a:off x="6280190" y="445781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Tự động hóa tài liệu phát hành từ Git commits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91602"/>
            <a:ext cx="10463927" cy="708779"/>
          </a:xfrm>
          <a:prstGeom prst="rect">
            <a:avLst/>
          </a:prstGeom>
          <a:noFill/>
          <a:ln/>
        </p:spPr>
        <p:txBody>
          <a:bodyPr wrap="non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Vấn đề: Viết Release Notes là gánh nặng</a:t>
            </a:r>
            <a:endParaRPr lang="en-US" sz="4450" dirty="0"/>
          </a:p>
        </p:txBody>
      </p:sp>
      <p:sp>
        <p:nvSpPr>
          <p:cNvPr id="3" name="Shape 1"/>
          <p:cNvSpPr/>
          <p:nvPr/>
        </p:nvSpPr>
        <p:spPr>
          <a:xfrm>
            <a:off x="793790" y="2554010"/>
            <a:ext cx="4196358" cy="2940010"/>
          </a:xfrm>
          <a:prstGeom prst="roundRect">
            <a:avLst>
              <a:gd name="adj" fmla="val 1157"/>
            </a:avLst>
          </a:prstGeom>
          <a:solidFill>
            <a:srgbClr val="3E3E3E"/>
          </a:solidFill>
          <a:ln/>
        </p:spPr>
      </p:sp>
      <p:sp>
        <p:nvSpPr>
          <p:cNvPr id="4" name="Shape 2"/>
          <p:cNvSpPr/>
          <p:nvPr/>
        </p:nvSpPr>
        <p:spPr>
          <a:xfrm>
            <a:off x="1020604" y="2780824"/>
            <a:ext cx="680442" cy="680442"/>
          </a:xfrm>
          <a:prstGeom prst="roundRect">
            <a:avLst>
              <a:gd name="adj" fmla="val 13436980"/>
            </a:avLst>
          </a:prstGeom>
          <a:solidFill>
            <a:srgbClr val="F5F547"/>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2967871"/>
            <a:ext cx="306110" cy="306110"/>
          </a:xfrm>
          <a:prstGeom prst="rect">
            <a:avLst/>
          </a:prstGeom>
        </p:spPr>
      </p:pic>
      <p:sp>
        <p:nvSpPr>
          <p:cNvPr id="6" name="Text 3"/>
          <p:cNvSpPr/>
          <p:nvPr/>
        </p:nvSpPr>
        <p:spPr>
          <a:xfrm>
            <a:off x="1020604" y="36880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Tốn thời gian</a:t>
            </a:r>
            <a:endParaRPr lang="en-US" sz="2200" dirty="0"/>
          </a:p>
        </p:txBody>
      </p:sp>
      <p:sp>
        <p:nvSpPr>
          <p:cNvPr id="7" name="Text 4"/>
          <p:cNvSpPr/>
          <p:nvPr/>
        </p:nvSpPr>
        <p:spPr>
          <a:xfrm>
            <a:off x="1020604" y="4178498"/>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Đội ngũ dành 2-4 giờ mỗi lần phát hành để tổng hợp và viết release notes</a:t>
            </a:r>
            <a:endParaRPr lang="en-US" sz="1750" dirty="0"/>
          </a:p>
        </p:txBody>
      </p:sp>
      <p:sp>
        <p:nvSpPr>
          <p:cNvPr id="8" name="Shape 5"/>
          <p:cNvSpPr/>
          <p:nvPr/>
        </p:nvSpPr>
        <p:spPr>
          <a:xfrm>
            <a:off x="5216962" y="2554010"/>
            <a:ext cx="4196358" cy="2940010"/>
          </a:xfrm>
          <a:prstGeom prst="roundRect">
            <a:avLst>
              <a:gd name="adj" fmla="val 1157"/>
            </a:avLst>
          </a:prstGeom>
          <a:solidFill>
            <a:srgbClr val="3E3E3E"/>
          </a:solidFill>
          <a:ln/>
        </p:spPr>
      </p:sp>
      <p:sp>
        <p:nvSpPr>
          <p:cNvPr id="9" name="Shape 6"/>
          <p:cNvSpPr/>
          <p:nvPr/>
        </p:nvSpPr>
        <p:spPr>
          <a:xfrm>
            <a:off x="5443776" y="2780824"/>
            <a:ext cx="680442" cy="680442"/>
          </a:xfrm>
          <a:prstGeom prst="roundRect">
            <a:avLst>
              <a:gd name="adj" fmla="val 13436980"/>
            </a:avLst>
          </a:prstGeom>
          <a:solidFill>
            <a:srgbClr val="F5F547"/>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2967871"/>
            <a:ext cx="306110" cy="306110"/>
          </a:xfrm>
          <a:prstGeom prst="rect">
            <a:avLst/>
          </a:prstGeom>
        </p:spPr>
      </p:pic>
      <p:sp>
        <p:nvSpPr>
          <p:cNvPr id="11" name="Text 7"/>
          <p:cNvSpPr/>
          <p:nvPr/>
        </p:nvSpPr>
        <p:spPr>
          <a:xfrm>
            <a:off x="5443776" y="36880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Dễ sai sót</a:t>
            </a:r>
            <a:endParaRPr lang="en-US" sz="2200" dirty="0"/>
          </a:p>
        </p:txBody>
      </p:sp>
      <p:sp>
        <p:nvSpPr>
          <p:cNvPr id="12" name="Text 8"/>
          <p:cNvSpPr/>
          <p:nvPr/>
        </p:nvSpPr>
        <p:spPr>
          <a:xfrm>
            <a:off x="5443776" y="4178498"/>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Phụ thuộc vào ký ức và ghi chép, dẫn đến thông tin thiếu sót hoặc không chính xác</a:t>
            </a:r>
            <a:endParaRPr lang="en-US" sz="1750" dirty="0"/>
          </a:p>
        </p:txBody>
      </p:sp>
      <p:sp>
        <p:nvSpPr>
          <p:cNvPr id="13" name="Shape 9"/>
          <p:cNvSpPr/>
          <p:nvPr/>
        </p:nvSpPr>
        <p:spPr>
          <a:xfrm>
            <a:off x="9640133" y="2554010"/>
            <a:ext cx="4196358" cy="2940010"/>
          </a:xfrm>
          <a:prstGeom prst="roundRect">
            <a:avLst>
              <a:gd name="adj" fmla="val 1157"/>
            </a:avLst>
          </a:prstGeom>
          <a:solidFill>
            <a:srgbClr val="3E3E3E"/>
          </a:solidFill>
          <a:ln/>
        </p:spPr>
      </p:sp>
      <p:sp>
        <p:nvSpPr>
          <p:cNvPr id="14" name="Shape 10"/>
          <p:cNvSpPr/>
          <p:nvPr/>
        </p:nvSpPr>
        <p:spPr>
          <a:xfrm>
            <a:off x="9866948" y="2780824"/>
            <a:ext cx="680442" cy="680442"/>
          </a:xfrm>
          <a:prstGeom prst="roundRect">
            <a:avLst>
              <a:gd name="adj" fmla="val 13436980"/>
            </a:avLst>
          </a:prstGeom>
          <a:solidFill>
            <a:srgbClr val="F5F547"/>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2967871"/>
            <a:ext cx="306110" cy="306110"/>
          </a:xfrm>
          <a:prstGeom prst="rect">
            <a:avLst/>
          </a:prstGeom>
        </p:spPr>
      </p:pic>
      <p:sp>
        <p:nvSpPr>
          <p:cNvPr id="16" name="Text 11"/>
          <p:cNvSpPr/>
          <p:nvPr/>
        </p:nvSpPr>
        <p:spPr>
          <a:xfrm>
            <a:off x="9866948" y="36880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Không nhất quán</a:t>
            </a:r>
            <a:endParaRPr lang="en-US" sz="2200" dirty="0"/>
          </a:p>
        </p:txBody>
      </p:sp>
      <p:sp>
        <p:nvSpPr>
          <p:cNvPr id="17" name="Text 12"/>
          <p:cNvSpPr/>
          <p:nvPr/>
        </p:nvSpPr>
        <p:spPr>
          <a:xfrm>
            <a:off x="9866948" y="4178498"/>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Mỗi người viết theo phong cách riêng, khó theo dõi và so sánh giữa các phiên bản</a:t>
            </a:r>
            <a:endParaRPr lang="en-US" sz="1750" dirty="0"/>
          </a:p>
        </p:txBody>
      </p:sp>
      <p:sp>
        <p:nvSpPr>
          <p:cNvPr id="18" name="Text 13"/>
          <p:cNvSpPr/>
          <p:nvPr/>
        </p:nvSpPr>
        <p:spPr>
          <a:xfrm>
            <a:off x="793790" y="5749171"/>
            <a:ext cx="13042821" cy="1088708"/>
          </a:xfrm>
          <a:prstGeom prst="rect">
            <a:avLst/>
          </a:prstGeom>
          <a:noFill/>
          <a:ln/>
        </p:spPr>
        <p:txBody>
          <a:bodyPr wrap="square" lIns="0" tIns="0" rIns="0" bIns="0" rtlCol="0" anchor="t"/>
          <a:lstStyle/>
          <a:p>
            <a:pPr algn="l" indent="0" marL="0">
              <a:lnSpc>
                <a:spcPts val="2850"/>
              </a:lnSpc>
              <a:buNone/>
            </a:pPr>
            <a:r>
              <a:rPr lang="en-US" sz="1750" i="1" dirty="0">
                <a:solidFill>
                  <a:srgbClr val="BFBFBF"/>
                </a:solidFill>
                <a:latin typeface="Open Sans" pitchFamily="34" charset="0"/>
                <a:ea typeface="Open Sans" pitchFamily="34" charset="-122"/>
                <a:cs typeface="Open Sans" pitchFamily="34" charset="-120"/>
              </a:rPr>
              <a:t>Speaker Notes: "Khi hỏi các đội phát triển, phần lớn đều than phiền về việc viết release notes. Đây là công việc bắt buộc nhưng không mang lại giá trị trực tiếp. Nó chiếm thời gian quý giá mà lẽ ra có thể dùng để phát triển tính năng hoặc fix bug."</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3786" y="600075"/>
            <a:ext cx="8595479" cy="681990"/>
          </a:xfrm>
          <a:prstGeom prst="rect">
            <a:avLst/>
          </a:prstGeom>
          <a:noFill/>
          <a:ln/>
        </p:spPr>
        <p:txBody>
          <a:bodyPr wrap="none" lIns="0" tIns="0" rIns="0" bIns="0" rtlCol="0" anchor="t"/>
          <a:lstStyle/>
          <a:p>
            <a:pPr algn="l" indent="0" marL="0">
              <a:lnSpc>
                <a:spcPts val="5350"/>
              </a:lnSpc>
              <a:buNone/>
            </a:pPr>
            <a:r>
              <a:rPr lang="en-US" sz="4250" dirty="0">
                <a:solidFill>
                  <a:srgbClr val="FEFEFE"/>
                </a:solidFill>
                <a:latin typeface="Instrument Sans Medium" pitchFamily="34" charset="0"/>
                <a:ea typeface="Instrument Sans Medium" pitchFamily="34" charset="-122"/>
                <a:cs typeface="Instrument Sans Medium" pitchFamily="34" charset="-120"/>
              </a:rPr>
              <a:t>Giải pháp: Release Note Extension</a:t>
            </a:r>
            <a:endParaRPr lang="en-US" sz="4250" dirty="0"/>
          </a:p>
        </p:txBody>
      </p:sp>
      <p:sp>
        <p:nvSpPr>
          <p:cNvPr id="3" name="Text 1"/>
          <p:cNvSpPr/>
          <p:nvPr/>
        </p:nvSpPr>
        <p:spPr>
          <a:xfrm>
            <a:off x="763786" y="2104668"/>
            <a:ext cx="3168610" cy="340876"/>
          </a:xfrm>
          <a:prstGeom prst="rect">
            <a:avLst/>
          </a:prstGeom>
          <a:noFill/>
          <a:ln/>
        </p:spPr>
        <p:txBody>
          <a:bodyPr wrap="none" lIns="0" tIns="0" rIns="0" bIns="0" rtlCol="0" anchor="t"/>
          <a:lstStyle/>
          <a:p>
            <a:pPr algn="l" indent="0" marL="0">
              <a:lnSpc>
                <a:spcPts val="2650"/>
              </a:lnSpc>
              <a:buNone/>
            </a:pPr>
            <a:r>
              <a:rPr lang="en-US" sz="2100" dirty="0">
                <a:solidFill>
                  <a:srgbClr val="FEFEFE"/>
                </a:solidFill>
                <a:latin typeface="Instrument Sans Medium" pitchFamily="34" charset="0"/>
                <a:ea typeface="Instrument Sans Medium" pitchFamily="34" charset="-122"/>
                <a:cs typeface="Instrument Sans Medium" pitchFamily="34" charset="-120"/>
              </a:rPr>
              <a:t>Automatically Generated</a:t>
            </a:r>
            <a:endParaRPr lang="en-US" sz="2100" dirty="0"/>
          </a:p>
        </p:txBody>
      </p:sp>
      <p:sp>
        <p:nvSpPr>
          <p:cNvPr id="4" name="Text 2"/>
          <p:cNvSpPr/>
          <p:nvPr/>
        </p:nvSpPr>
        <p:spPr>
          <a:xfrm>
            <a:off x="763786" y="2655451"/>
            <a:ext cx="4239816" cy="685086"/>
          </a:xfrm>
          <a:prstGeom prst="rect">
            <a:avLst/>
          </a:prstGeom>
          <a:noFill/>
          <a:ln/>
        </p:spPr>
        <p:txBody>
          <a:bodyPr wrap="square" lIns="0" tIns="0" rIns="0" bIns="0" rtlCol="0" anchor="t"/>
          <a:lstStyle/>
          <a:p>
            <a:pPr algn="l" indent="0" marL="0">
              <a:lnSpc>
                <a:spcPts val="2650"/>
              </a:lnSpc>
              <a:buNone/>
            </a:pPr>
            <a:r>
              <a:rPr lang="en-US" sz="1700" dirty="0">
                <a:solidFill>
                  <a:srgbClr val="BFBFBF"/>
                </a:solidFill>
                <a:latin typeface="Open Sans" pitchFamily="34" charset="0"/>
                <a:ea typeface="Open Sans" pitchFamily="34" charset="-122"/>
                <a:cs typeface="Open Sans" pitchFamily="34" charset="-120"/>
              </a:rPr>
              <a:t>Tạo release notes tự động từ Git commits trong giây lát</a:t>
            </a:r>
            <a:endParaRPr lang="en-US" sz="1700" dirty="0"/>
          </a:p>
        </p:txBody>
      </p:sp>
      <p:sp>
        <p:nvSpPr>
          <p:cNvPr id="5" name="Text 3"/>
          <p:cNvSpPr/>
          <p:nvPr/>
        </p:nvSpPr>
        <p:spPr>
          <a:xfrm>
            <a:off x="763786" y="3550444"/>
            <a:ext cx="3021568" cy="340876"/>
          </a:xfrm>
          <a:prstGeom prst="rect">
            <a:avLst/>
          </a:prstGeom>
          <a:noFill/>
          <a:ln/>
        </p:spPr>
        <p:txBody>
          <a:bodyPr wrap="none" lIns="0" tIns="0" rIns="0" bIns="0" rtlCol="0" anchor="t"/>
          <a:lstStyle/>
          <a:p>
            <a:pPr algn="l" indent="0" marL="0">
              <a:lnSpc>
                <a:spcPts val="2650"/>
              </a:lnSpc>
              <a:buNone/>
            </a:pPr>
            <a:r>
              <a:rPr lang="en-US" sz="2100" dirty="0">
                <a:solidFill>
                  <a:srgbClr val="FEFEFE"/>
                </a:solidFill>
                <a:latin typeface="Instrument Sans Medium" pitchFamily="34" charset="0"/>
                <a:ea typeface="Instrument Sans Medium" pitchFamily="34" charset="-122"/>
                <a:cs typeface="Instrument Sans Medium" pitchFamily="34" charset="-120"/>
              </a:rPr>
              <a:t>AI-Powered Summaries</a:t>
            </a:r>
            <a:endParaRPr lang="en-US" sz="2100" dirty="0"/>
          </a:p>
        </p:txBody>
      </p:sp>
      <p:sp>
        <p:nvSpPr>
          <p:cNvPr id="6" name="Text 4"/>
          <p:cNvSpPr/>
          <p:nvPr/>
        </p:nvSpPr>
        <p:spPr>
          <a:xfrm>
            <a:off x="763786" y="4101227"/>
            <a:ext cx="4239816" cy="685086"/>
          </a:xfrm>
          <a:prstGeom prst="rect">
            <a:avLst/>
          </a:prstGeom>
          <a:noFill/>
          <a:ln/>
        </p:spPr>
        <p:txBody>
          <a:bodyPr wrap="square" lIns="0" tIns="0" rIns="0" bIns="0" rtlCol="0" anchor="t"/>
          <a:lstStyle/>
          <a:p>
            <a:pPr algn="l" indent="0" marL="0">
              <a:lnSpc>
                <a:spcPts val="2650"/>
              </a:lnSpc>
              <a:buNone/>
            </a:pPr>
            <a:r>
              <a:rPr lang="en-US" sz="1700" dirty="0">
                <a:solidFill>
                  <a:srgbClr val="BFBFBF"/>
                </a:solidFill>
                <a:latin typeface="Open Sans" pitchFamily="34" charset="0"/>
                <a:ea typeface="Open Sans" pitchFamily="34" charset="-122"/>
                <a:cs typeface="Open Sans" pitchFamily="34" charset="-120"/>
              </a:rPr>
              <a:t>Tổng hợp nội dung commit thành mô tả dễ hiểu bằng AI</a:t>
            </a:r>
            <a:endParaRPr lang="en-US" sz="1700" dirty="0"/>
          </a:p>
        </p:txBody>
      </p:sp>
      <p:sp>
        <p:nvSpPr>
          <p:cNvPr id="7" name="Text 5"/>
          <p:cNvSpPr/>
          <p:nvPr/>
        </p:nvSpPr>
        <p:spPr>
          <a:xfrm>
            <a:off x="763786" y="4996220"/>
            <a:ext cx="3127415" cy="340876"/>
          </a:xfrm>
          <a:prstGeom prst="rect">
            <a:avLst/>
          </a:prstGeom>
          <a:noFill/>
          <a:ln/>
        </p:spPr>
        <p:txBody>
          <a:bodyPr wrap="none" lIns="0" tIns="0" rIns="0" bIns="0" rtlCol="0" anchor="t"/>
          <a:lstStyle/>
          <a:p>
            <a:pPr algn="l" indent="0" marL="0">
              <a:lnSpc>
                <a:spcPts val="2650"/>
              </a:lnSpc>
              <a:buNone/>
            </a:pPr>
            <a:r>
              <a:rPr lang="en-US" sz="2100" dirty="0">
                <a:solidFill>
                  <a:srgbClr val="FEFEFE"/>
                </a:solidFill>
                <a:latin typeface="Instrument Sans Medium" pitchFamily="34" charset="0"/>
                <a:ea typeface="Instrument Sans Medium" pitchFamily="34" charset="-122"/>
                <a:cs typeface="Instrument Sans Medium" pitchFamily="34" charset="-120"/>
              </a:rPr>
              <a:t>Customizable Templates</a:t>
            </a:r>
            <a:endParaRPr lang="en-US" sz="2100" dirty="0"/>
          </a:p>
        </p:txBody>
      </p:sp>
      <p:sp>
        <p:nvSpPr>
          <p:cNvPr id="8" name="Text 6"/>
          <p:cNvSpPr/>
          <p:nvPr/>
        </p:nvSpPr>
        <p:spPr>
          <a:xfrm>
            <a:off x="763786" y="5547003"/>
            <a:ext cx="4239816" cy="685086"/>
          </a:xfrm>
          <a:prstGeom prst="rect">
            <a:avLst/>
          </a:prstGeom>
          <a:noFill/>
          <a:ln/>
        </p:spPr>
        <p:txBody>
          <a:bodyPr wrap="square" lIns="0" tIns="0" rIns="0" bIns="0" rtlCol="0" anchor="t"/>
          <a:lstStyle/>
          <a:p>
            <a:pPr algn="l" indent="0" marL="0">
              <a:lnSpc>
                <a:spcPts val="2650"/>
              </a:lnSpc>
              <a:buNone/>
            </a:pPr>
            <a:r>
              <a:rPr lang="en-US" sz="1700" dirty="0">
                <a:solidFill>
                  <a:srgbClr val="BFBFBF"/>
                </a:solidFill>
                <a:latin typeface="Open Sans" pitchFamily="34" charset="0"/>
                <a:ea typeface="Open Sans" pitchFamily="34" charset="-122"/>
                <a:cs typeface="Open Sans" pitchFamily="34" charset="-120"/>
              </a:rPr>
              <a:t>Thiết kế format release notes phù hợp với từng dự án</a:t>
            </a:r>
            <a:endParaRPr lang="en-US" sz="1700" dirty="0"/>
          </a:p>
        </p:txBody>
      </p:sp>
      <p:pic>
        <p:nvPicPr>
          <p:cNvPr id="9" name="Image 0" descr="preencoded.png">    </p:cNvPr>
          <p:cNvPicPr>
            <a:picLocks noChangeAspect="1"/>
          </p:cNvPicPr>
          <p:nvPr/>
        </p:nvPicPr>
        <p:blipFill>
          <a:blip r:embed="rId1"/>
          <a:stretch>
            <a:fillRect/>
          </a:stretch>
        </p:blipFill>
        <p:spPr>
          <a:xfrm>
            <a:off x="5543669" y="1833205"/>
            <a:ext cx="8330446" cy="4649510"/>
          </a:xfrm>
          <a:prstGeom prst="rect">
            <a:avLst/>
          </a:prstGeom>
        </p:spPr>
      </p:pic>
      <p:sp>
        <p:nvSpPr>
          <p:cNvPr id="10" name="Text 7"/>
          <p:cNvSpPr/>
          <p:nvPr/>
        </p:nvSpPr>
        <p:spPr>
          <a:xfrm>
            <a:off x="763786" y="6955155"/>
            <a:ext cx="13102828" cy="685086"/>
          </a:xfrm>
          <a:prstGeom prst="rect">
            <a:avLst/>
          </a:prstGeom>
          <a:noFill/>
          <a:ln/>
        </p:spPr>
        <p:txBody>
          <a:bodyPr wrap="square" lIns="0" tIns="0" rIns="0" bIns="0" rtlCol="0" anchor="t"/>
          <a:lstStyle/>
          <a:p>
            <a:pPr algn="l" indent="0" marL="0">
              <a:lnSpc>
                <a:spcPts val="2650"/>
              </a:lnSpc>
              <a:buNone/>
            </a:pPr>
            <a:r>
              <a:rPr lang="en-US" sz="1700" i="1" dirty="0">
                <a:solidFill>
                  <a:srgbClr val="BFBFBF"/>
                </a:solidFill>
                <a:latin typeface="Open Sans" pitchFamily="34" charset="0"/>
                <a:ea typeface="Open Sans" pitchFamily="34" charset="-122"/>
                <a:cs typeface="Open Sans" pitchFamily="34" charset="-120"/>
              </a:rPr>
              <a:t>Speaker Notes: "Release Note Extension là một công cụ phát triển để tự động hóa toàn bộ quy trình tạo release notes. Nó kết nối với Git repository của bạn, phân tích các commits, và tạo ra release notes chuyên nghiệp chỉ trong vài giây."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060502" y="349806"/>
            <a:ext cx="3083004" cy="385286"/>
          </a:xfrm>
          <a:prstGeom prst="rect">
            <a:avLst/>
          </a:prstGeom>
          <a:noFill/>
          <a:ln/>
        </p:spPr>
        <p:txBody>
          <a:bodyPr wrap="none" lIns="0" tIns="0" rIns="0" bIns="0" rtlCol="0" anchor="t"/>
          <a:lstStyle/>
          <a:p>
            <a:pPr algn="l" indent="0" marL="0">
              <a:lnSpc>
                <a:spcPts val="3000"/>
              </a:lnSpc>
              <a:buNone/>
            </a:pPr>
            <a:r>
              <a:rPr lang="en-US" sz="2400" dirty="0">
                <a:solidFill>
                  <a:srgbClr val="FEFEFE"/>
                </a:solidFill>
                <a:latin typeface="Instrument Sans Medium" pitchFamily="34" charset="0"/>
                <a:ea typeface="Instrument Sans Medium" pitchFamily="34" charset="-122"/>
                <a:cs typeface="Instrument Sans Medium" pitchFamily="34" charset="-120"/>
              </a:rPr>
              <a:t>Cách hoạt động</a:t>
            </a:r>
            <a:endParaRPr lang="en-US" sz="2400" dirty="0"/>
          </a:p>
        </p:txBody>
      </p:sp>
      <p:pic>
        <p:nvPicPr>
          <p:cNvPr id="3" name="Image 0" descr="preencoded.png">    </p:cNvPr>
          <p:cNvPicPr>
            <a:picLocks noChangeAspect="1"/>
          </p:cNvPicPr>
          <p:nvPr/>
        </p:nvPicPr>
        <p:blipFill>
          <a:blip r:embed="rId1"/>
          <a:stretch>
            <a:fillRect/>
          </a:stretch>
        </p:blipFill>
        <p:spPr>
          <a:xfrm>
            <a:off x="3373517" y="869156"/>
            <a:ext cx="7883247" cy="4808696"/>
          </a:xfrm>
          <a:prstGeom prst="rect">
            <a:avLst/>
          </a:prstGeom>
        </p:spPr>
      </p:pic>
      <p:sp>
        <p:nvSpPr>
          <p:cNvPr id="4" name="Text 1"/>
          <p:cNvSpPr/>
          <p:nvPr/>
        </p:nvSpPr>
        <p:spPr>
          <a:xfrm>
            <a:off x="3563310" y="1809252"/>
            <a:ext cx="1796632" cy="239321"/>
          </a:xfrm>
          <a:prstGeom prst="rect">
            <a:avLst/>
          </a:prstGeom>
          <a:noFill/>
          <a:ln/>
        </p:spPr>
        <p:txBody>
          <a:bodyPr wrap="none" lIns="0" tIns="0" rIns="0" bIns="0" rtlCol="0" anchor="t"/>
          <a:lstStyle/>
          <a:p>
            <a:pPr algn="ctr" indent="0" marL="0">
              <a:lnSpc>
                <a:spcPts val="1850"/>
              </a:lnSpc>
              <a:buNone/>
            </a:pPr>
            <a:r>
              <a:rPr lang="en-US" sz="1500" dirty="0">
                <a:solidFill>
                  <a:srgbClr val="BFBFBF"/>
                </a:solidFill>
                <a:latin typeface="Instrument Sans Medium" pitchFamily="34" charset="0"/>
                <a:ea typeface="Instrument Sans Medium" pitchFamily="34" charset="-122"/>
                <a:cs typeface="Instrument Sans Medium" pitchFamily="34" charset="-120"/>
              </a:rPr>
              <a:t>Commits Git</a:t>
            </a:r>
            <a:endParaRPr lang="en-US" sz="15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53750" y="2527479"/>
            <a:ext cx="425459" cy="425459"/>
          </a:xfrm>
          <a:prstGeom prst="rect">
            <a:avLst/>
          </a:prstGeom>
        </p:spPr>
      </p:pic>
      <p:sp>
        <p:nvSpPr>
          <p:cNvPr id="6" name="Text 2"/>
          <p:cNvSpPr/>
          <p:nvPr/>
        </p:nvSpPr>
        <p:spPr>
          <a:xfrm>
            <a:off x="4821737" y="3941065"/>
            <a:ext cx="1796632" cy="239320"/>
          </a:xfrm>
          <a:prstGeom prst="rect">
            <a:avLst/>
          </a:prstGeom>
          <a:noFill/>
          <a:ln/>
        </p:spPr>
        <p:txBody>
          <a:bodyPr wrap="none" lIns="0" tIns="0" rIns="0" bIns="0" rtlCol="0" anchor="t"/>
          <a:lstStyle/>
          <a:p>
            <a:pPr algn="ctr" indent="0" marL="0">
              <a:lnSpc>
                <a:spcPts val="1850"/>
              </a:lnSpc>
              <a:buNone/>
            </a:pPr>
            <a:r>
              <a:rPr lang="en-US" sz="1500" dirty="0">
                <a:solidFill>
                  <a:srgbClr val="BFBFBF"/>
                </a:solidFill>
                <a:latin typeface="Instrument Sans Medium" pitchFamily="34" charset="0"/>
                <a:ea typeface="Instrument Sans Medium" pitchFamily="34" charset="-122"/>
                <a:cs typeface="Instrument Sans Medium" pitchFamily="34" charset="-120"/>
              </a:rPr>
              <a:t>Phân tích</a:t>
            </a:r>
            <a:endParaRPr lang="en-US" sz="15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89025" y="2786876"/>
            <a:ext cx="425459" cy="425458"/>
          </a:xfrm>
          <a:prstGeom prst="rect">
            <a:avLst/>
          </a:prstGeom>
        </p:spPr>
      </p:pic>
      <p:sp>
        <p:nvSpPr>
          <p:cNvPr id="8" name="Text 3"/>
          <p:cNvSpPr/>
          <p:nvPr/>
        </p:nvSpPr>
        <p:spPr>
          <a:xfrm>
            <a:off x="6352723" y="2038600"/>
            <a:ext cx="1854999" cy="239321"/>
          </a:xfrm>
          <a:prstGeom prst="rect">
            <a:avLst/>
          </a:prstGeom>
          <a:noFill/>
          <a:ln/>
        </p:spPr>
        <p:txBody>
          <a:bodyPr wrap="none" lIns="0" tIns="0" rIns="0" bIns="0" rtlCol="0" anchor="t"/>
          <a:lstStyle/>
          <a:p>
            <a:pPr algn="ctr" indent="0" marL="0">
              <a:lnSpc>
                <a:spcPts val="1850"/>
              </a:lnSpc>
              <a:buNone/>
            </a:pPr>
            <a:r>
              <a:rPr lang="en-US" sz="1500" dirty="0">
                <a:solidFill>
                  <a:srgbClr val="BFBFBF"/>
                </a:solidFill>
                <a:latin typeface="Instrument Sans Medium" pitchFamily="34" charset="0"/>
                <a:ea typeface="Instrument Sans Medium" pitchFamily="34" charset="-122"/>
                <a:cs typeface="Instrument Sans Medium" pitchFamily="34" charset="-120"/>
              </a:rPr>
              <a:t>Tổng hợp AI</a:t>
            </a:r>
            <a:endParaRPr lang="en-US" sz="15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34006" y="3046273"/>
            <a:ext cx="425459" cy="425458"/>
          </a:xfrm>
          <a:prstGeom prst="rect">
            <a:avLst/>
          </a:prstGeom>
        </p:spPr>
      </p:pic>
      <p:sp>
        <p:nvSpPr>
          <p:cNvPr id="10" name="Text 4"/>
          <p:cNvSpPr/>
          <p:nvPr/>
        </p:nvSpPr>
        <p:spPr>
          <a:xfrm>
            <a:off x="7598120" y="4498283"/>
            <a:ext cx="1796632" cy="239321"/>
          </a:xfrm>
          <a:prstGeom prst="rect">
            <a:avLst/>
          </a:prstGeom>
          <a:noFill/>
          <a:ln/>
        </p:spPr>
        <p:txBody>
          <a:bodyPr wrap="none" lIns="0" tIns="0" rIns="0" bIns="0" rtlCol="0" anchor="t"/>
          <a:lstStyle/>
          <a:p>
            <a:pPr algn="ctr" indent="0" marL="0">
              <a:lnSpc>
                <a:spcPts val="1850"/>
              </a:lnSpc>
              <a:buNone/>
            </a:pPr>
            <a:r>
              <a:rPr lang="en-US" sz="1500" dirty="0">
                <a:solidFill>
                  <a:srgbClr val="BFBFBF"/>
                </a:solidFill>
                <a:latin typeface="Instrument Sans Medium" pitchFamily="34" charset="0"/>
                <a:ea typeface="Instrument Sans Medium" pitchFamily="34" charset="-122"/>
                <a:cs typeface="Instrument Sans Medium" pitchFamily="34" charset="-120"/>
              </a:rPr>
              <a:t>Áp mẫu</a:t>
            </a:r>
            <a:endParaRPr lang="en-US" sz="1500" dirty="0"/>
          </a:p>
        </p:txBody>
      </p:sp>
      <p:pic>
        <p:nvPicPr>
          <p:cNvPr id="1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78855" y="3305669"/>
            <a:ext cx="425459" cy="425459"/>
          </a:xfrm>
          <a:prstGeom prst="rect">
            <a:avLst/>
          </a:prstGeom>
        </p:spPr>
      </p:pic>
      <p:sp>
        <p:nvSpPr>
          <p:cNvPr id="12" name="Text 5"/>
          <p:cNvSpPr/>
          <p:nvPr/>
        </p:nvSpPr>
        <p:spPr>
          <a:xfrm>
            <a:off x="9192792" y="2539445"/>
            <a:ext cx="1796632" cy="239321"/>
          </a:xfrm>
          <a:prstGeom prst="rect">
            <a:avLst/>
          </a:prstGeom>
          <a:noFill/>
          <a:ln/>
        </p:spPr>
        <p:txBody>
          <a:bodyPr wrap="none" lIns="0" tIns="0" rIns="0" bIns="0" rtlCol="0" anchor="t"/>
          <a:lstStyle/>
          <a:p>
            <a:pPr algn="ctr" indent="0" marL="0">
              <a:lnSpc>
                <a:spcPts val="1850"/>
              </a:lnSpc>
              <a:buNone/>
            </a:pPr>
            <a:r>
              <a:rPr lang="en-US" sz="1500" dirty="0">
                <a:solidFill>
                  <a:srgbClr val="BFBFBF"/>
                </a:solidFill>
                <a:latin typeface="Instrument Sans Medium" pitchFamily="34" charset="0"/>
                <a:ea typeface="Instrument Sans Medium" pitchFamily="34" charset="-122"/>
                <a:cs typeface="Instrument Sans Medium" pitchFamily="34" charset="-120"/>
              </a:rPr>
              <a:t>Release Notes</a:t>
            </a:r>
            <a:endParaRPr lang="en-US" sz="1500" dirty="0"/>
          </a:p>
        </p:txBody>
      </p:sp>
      <p:pic>
        <p:nvPicPr>
          <p:cNvPr id="13"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257" y="3584212"/>
            <a:ext cx="425459" cy="425459"/>
          </a:xfrm>
          <a:prstGeom prst="rect">
            <a:avLst/>
          </a:prstGeom>
        </p:spPr>
      </p:pic>
      <p:sp>
        <p:nvSpPr>
          <p:cNvPr id="14" name="Text 6"/>
          <p:cNvSpPr/>
          <p:nvPr/>
        </p:nvSpPr>
        <p:spPr>
          <a:xfrm>
            <a:off x="3060502" y="5753219"/>
            <a:ext cx="123230" cy="154067"/>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Instrument Sans Light" pitchFamily="34" charset="0"/>
                <a:ea typeface="Instrument Sans Light" pitchFamily="34" charset="-122"/>
                <a:cs typeface="Instrument Sans Light" pitchFamily="34" charset="-120"/>
              </a:rPr>
              <a:t>01</a:t>
            </a:r>
            <a:endParaRPr lang="en-US" sz="950" dirty="0"/>
          </a:p>
        </p:txBody>
      </p:sp>
      <p:sp>
        <p:nvSpPr>
          <p:cNvPr id="15" name="Shape 7"/>
          <p:cNvSpPr/>
          <p:nvPr/>
        </p:nvSpPr>
        <p:spPr>
          <a:xfrm>
            <a:off x="3060502" y="5947410"/>
            <a:ext cx="2791658" cy="15240"/>
          </a:xfrm>
          <a:prstGeom prst="rect">
            <a:avLst/>
          </a:prstGeom>
          <a:solidFill>
            <a:srgbClr val="F5F547"/>
          </a:solidFill>
          <a:ln/>
        </p:spPr>
      </p:sp>
      <p:sp>
        <p:nvSpPr>
          <p:cNvPr id="16" name="Text 8"/>
          <p:cNvSpPr/>
          <p:nvPr/>
        </p:nvSpPr>
        <p:spPr>
          <a:xfrm>
            <a:off x="3060502" y="6039445"/>
            <a:ext cx="1541502" cy="192643"/>
          </a:xfrm>
          <a:prstGeom prst="rect">
            <a:avLst/>
          </a:prstGeom>
          <a:noFill/>
          <a:ln/>
        </p:spPr>
        <p:txBody>
          <a:bodyPr wrap="none" lIns="0" tIns="0" rIns="0" bIns="0" rtlCol="0" anchor="t"/>
          <a:lstStyle/>
          <a:p>
            <a:pPr algn="l" indent="0" marL="0">
              <a:lnSpc>
                <a:spcPts val="1500"/>
              </a:lnSpc>
              <a:buNone/>
            </a:pPr>
            <a:r>
              <a:rPr lang="en-US" sz="1200" dirty="0">
                <a:solidFill>
                  <a:srgbClr val="BFBFBF"/>
                </a:solidFill>
                <a:latin typeface="Instrument Sans Medium" pitchFamily="34" charset="0"/>
                <a:ea typeface="Instrument Sans Medium" pitchFamily="34" charset="-122"/>
                <a:cs typeface="Instrument Sans Medium" pitchFamily="34" charset="-120"/>
              </a:rPr>
              <a:t>Phân tích Commits</a:t>
            </a:r>
            <a:endParaRPr lang="en-US" sz="1200" dirty="0"/>
          </a:p>
        </p:txBody>
      </p:sp>
      <p:sp>
        <p:nvSpPr>
          <p:cNvPr id="17" name="Text 9"/>
          <p:cNvSpPr/>
          <p:nvPr/>
        </p:nvSpPr>
        <p:spPr>
          <a:xfrm>
            <a:off x="3060502" y="6272212"/>
            <a:ext cx="2791658" cy="304562"/>
          </a:xfrm>
          <a:prstGeom prst="rect">
            <a:avLst/>
          </a:prstGeom>
          <a:noFill/>
          <a:ln/>
        </p:spPr>
        <p:txBody>
          <a:bodyPr wrap="square" lIns="0" tIns="0" rIns="0" bIns="0" rtlCol="0" anchor="t"/>
          <a:lstStyle/>
          <a:p>
            <a:pPr algn="l" indent="0" marL="0">
              <a:lnSpc>
                <a:spcPts val="1150"/>
              </a:lnSpc>
              <a:buNone/>
            </a:pPr>
            <a:r>
              <a:rPr lang="en-US" sz="950" dirty="0">
                <a:solidFill>
                  <a:srgbClr val="BFBFBF"/>
                </a:solidFill>
                <a:latin typeface="Open Sans" pitchFamily="34" charset="0"/>
                <a:ea typeface="Open Sans" pitchFamily="34" charset="-122"/>
                <a:cs typeface="Open Sans" pitchFamily="34" charset="-120"/>
              </a:rPr>
              <a:t>Đọc và parse tất cả commits từ lần phát hành trước</a:t>
            </a:r>
            <a:endParaRPr lang="en-US" sz="950" dirty="0"/>
          </a:p>
        </p:txBody>
      </p:sp>
      <p:sp>
        <p:nvSpPr>
          <p:cNvPr id="18" name="Text 10"/>
          <p:cNvSpPr/>
          <p:nvPr/>
        </p:nvSpPr>
        <p:spPr>
          <a:xfrm>
            <a:off x="5919192" y="5753219"/>
            <a:ext cx="123230" cy="154067"/>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Instrument Sans Light" pitchFamily="34" charset="0"/>
                <a:ea typeface="Instrument Sans Light" pitchFamily="34" charset="-122"/>
                <a:cs typeface="Instrument Sans Light" pitchFamily="34" charset="-120"/>
              </a:rPr>
              <a:t>02</a:t>
            </a:r>
            <a:endParaRPr lang="en-US" sz="950" dirty="0"/>
          </a:p>
        </p:txBody>
      </p:sp>
      <p:sp>
        <p:nvSpPr>
          <p:cNvPr id="19" name="Shape 11"/>
          <p:cNvSpPr/>
          <p:nvPr/>
        </p:nvSpPr>
        <p:spPr>
          <a:xfrm>
            <a:off x="5919192" y="5947410"/>
            <a:ext cx="2791778" cy="15240"/>
          </a:xfrm>
          <a:prstGeom prst="rect">
            <a:avLst/>
          </a:prstGeom>
          <a:solidFill>
            <a:srgbClr val="F5F547"/>
          </a:solidFill>
          <a:ln/>
        </p:spPr>
      </p:sp>
      <p:sp>
        <p:nvSpPr>
          <p:cNvPr id="20" name="Text 12"/>
          <p:cNvSpPr/>
          <p:nvPr/>
        </p:nvSpPr>
        <p:spPr>
          <a:xfrm>
            <a:off x="5919192" y="6039445"/>
            <a:ext cx="1541502" cy="192643"/>
          </a:xfrm>
          <a:prstGeom prst="rect">
            <a:avLst/>
          </a:prstGeom>
          <a:noFill/>
          <a:ln/>
        </p:spPr>
        <p:txBody>
          <a:bodyPr wrap="none" lIns="0" tIns="0" rIns="0" bIns="0" rtlCol="0" anchor="t"/>
          <a:lstStyle/>
          <a:p>
            <a:pPr algn="l" indent="0" marL="0">
              <a:lnSpc>
                <a:spcPts val="1500"/>
              </a:lnSpc>
              <a:buNone/>
            </a:pPr>
            <a:r>
              <a:rPr lang="en-US" sz="1200" dirty="0">
                <a:solidFill>
                  <a:srgbClr val="BFBFBF"/>
                </a:solidFill>
                <a:latin typeface="Instrument Sans Medium" pitchFamily="34" charset="0"/>
                <a:ea typeface="Instrument Sans Medium" pitchFamily="34" charset="-122"/>
                <a:cs typeface="Instrument Sans Medium" pitchFamily="34" charset="-120"/>
              </a:rPr>
              <a:t>Trích xuất Thông tin</a:t>
            </a:r>
            <a:endParaRPr lang="en-US" sz="1200" dirty="0"/>
          </a:p>
        </p:txBody>
      </p:sp>
      <p:sp>
        <p:nvSpPr>
          <p:cNvPr id="21" name="Text 13"/>
          <p:cNvSpPr/>
          <p:nvPr/>
        </p:nvSpPr>
        <p:spPr>
          <a:xfrm>
            <a:off x="5919192" y="6272212"/>
            <a:ext cx="2791778" cy="304562"/>
          </a:xfrm>
          <a:prstGeom prst="rect">
            <a:avLst/>
          </a:prstGeom>
          <a:noFill/>
          <a:ln/>
        </p:spPr>
        <p:txBody>
          <a:bodyPr wrap="square" lIns="0" tIns="0" rIns="0" bIns="0" rtlCol="0" anchor="t"/>
          <a:lstStyle/>
          <a:p>
            <a:pPr algn="l" indent="0" marL="0">
              <a:lnSpc>
                <a:spcPts val="1150"/>
              </a:lnSpc>
              <a:buNone/>
            </a:pPr>
            <a:r>
              <a:rPr lang="en-US" sz="950" dirty="0">
                <a:solidFill>
                  <a:srgbClr val="BFBFBF"/>
                </a:solidFill>
                <a:latin typeface="Open Sans" pitchFamily="34" charset="0"/>
                <a:ea typeface="Open Sans" pitchFamily="34" charset="-122"/>
                <a:cs typeface="Open Sans" pitchFamily="34" charset="-120"/>
              </a:rPr>
              <a:t>Lấy ra issue IDs, tags, và nội dung mô tả từ mỗi commit</a:t>
            </a:r>
            <a:endParaRPr lang="en-US" sz="950" dirty="0"/>
          </a:p>
        </p:txBody>
      </p:sp>
      <p:sp>
        <p:nvSpPr>
          <p:cNvPr id="22" name="Text 14"/>
          <p:cNvSpPr/>
          <p:nvPr/>
        </p:nvSpPr>
        <p:spPr>
          <a:xfrm>
            <a:off x="8778002" y="5753219"/>
            <a:ext cx="123230" cy="154067"/>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Instrument Sans Light" pitchFamily="34" charset="0"/>
                <a:ea typeface="Instrument Sans Light" pitchFamily="34" charset="-122"/>
                <a:cs typeface="Instrument Sans Light" pitchFamily="34" charset="-120"/>
              </a:rPr>
              <a:t>03</a:t>
            </a:r>
            <a:endParaRPr lang="en-US" sz="950" dirty="0"/>
          </a:p>
        </p:txBody>
      </p:sp>
      <p:sp>
        <p:nvSpPr>
          <p:cNvPr id="23" name="Shape 15"/>
          <p:cNvSpPr/>
          <p:nvPr/>
        </p:nvSpPr>
        <p:spPr>
          <a:xfrm>
            <a:off x="8778002" y="5947410"/>
            <a:ext cx="2791778" cy="15240"/>
          </a:xfrm>
          <a:prstGeom prst="rect">
            <a:avLst/>
          </a:prstGeom>
          <a:solidFill>
            <a:srgbClr val="F5F547"/>
          </a:solidFill>
          <a:ln/>
        </p:spPr>
      </p:sp>
      <p:sp>
        <p:nvSpPr>
          <p:cNvPr id="24" name="Text 16"/>
          <p:cNvSpPr/>
          <p:nvPr/>
        </p:nvSpPr>
        <p:spPr>
          <a:xfrm>
            <a:off x="8778002" y="6039445"/>
            <a:ext cx="1541502" cy="192643"/>
          </a:xfrm>
          <a:prstGeom prst="rect">
            <a:avLst/>
          </a:prstGeom>
          <a:noFill/>
          <a:ln/>
        </p:spPr>
        <p:txBody>
          <a:bodyPr wrap="none" lIns="0" tIns="0" rIns="0" bIns="0" rtlCol="0" anchor="t"/>
          <a:lstStyle/>
          <a:p>
            <a:pPr algn="l" indent="0" marL="0">
              <a:lnSpc>
                <a:spcPts val="1500"/>
              </a:lnSpc>
              <a:buNone/>
            </a:pPr>
            <a:r>
              <a:rPr lang="en-US" sz="1200" dirty="0">
                <a:solidFill>
                  <a:srgbClr val="BFBFBF"/>
                </a:solidFill>
                <a:latin typeface="Instrument Sans Medium" pitchFamily="34" charset="0"/>
                <a:ea typeface="Instrument Sans Medium" pitchFamily="34" charset="-122"/>
                <a:cs typeface="Instrument Sans Medium" pitchFamily="34" charset="-120"/>
              </a:rPr>
              <a:t>Tổng hợp bằng AI</a:t>
            </a:r>
            <a:endParaRPr lang="en-US" sz="1200" dirty="0"/>
          </a:p>
        </p:txBody>
      </p:sp>
      <p:sp>
        <p:nvSpPr>
          <p:cNvPr id="25" name="Text 17"/>
          <p:cNvSpPr/>
          <p:nvPr/>
        </p:nvSpPr>
        <p:spPr>
          <a:xfrm>
            <a:off x="8778002" y="6272212"/>
            <a:ext cx="2791778" cy="304562"/>
          </a:xfrm>
          <a:prstGeom prst="rect">
            <a:avLst/>
          </a:prstGeom>
          <a:noFill/>
          <a:ln/>
        </p:spPr>
        <p:txBody>
          <a:bodyPr wrap="square" lIns="0" tIns="0" rIns="0" bIns="0" rtlCol="0" anchor="t"/>
          <a:lstStyle/>
          <a:p>
            <a:pPr algn="l" indent="0" marL="0">
              <a:lnSpc>
                <a:spcPts val="1150"/>
              </a:lnSpc>
              <a:buNone/>
            </a:pPr>
            <a:r>
              <a:rPr lang="en-US" sz="950" dirty="0">
                <a:solidFill>
                  <a:srgbClr val="BFBFBF"/>
                </a:solidFill>
                <a:latin typeface="Open Sans" pitchFamily="34" charset="0"/>
                <a:ea typeface="Open Sans" pitchFamily="34" charset="-122"/>
                <a:cs typeface="Open Sans" pitchFamily="34" charset="-120"/>
              </a:rPr>
              <a:t>Sử dụng AI để tổng hợp thành mô tả ngắn gọn, dễ hiểu</a:t>
            </a:r>
            <a:endParaRPr lang="en-US" sz="950" dirty="0"/>
          </a:p>
        </p:txBody>
      </p:sp>
      <p:sp>
        <p:nvSpPr>
          <p:cNvPr id="26" name="Text 18"/>
          <p:cNvSpPr/>
          <p:nvPr/>
        </p:nvSpPr>
        <p:spPr>
          <a:xfrm>
            <a:off x="3060502" y="6736199"/>
            <a:ext cx="123230" cy="154067"/>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Instrument Sans Light" pitchFamily="34" charset="0"/>
                <a:ea typeface="Instrument Sans Light" pitchFamily="34" charset="-122"/>
                <a:cs typeface="Instrument Sans Light" pitchFamily="34" charset="-120"/>
              </a:rPr>
              <a:t>04</a:t>
            </a:r>
            <a:endParaRPr lang="en-US" sz="950" dirty="0"/>
          </a:p>
        </p:txBody>
      </p:sp>
      <p:sp>
        <p:nvSpPr>
          <p:cNvPr id="27" name="Shape 19"/>
          <p:cNvSpPr/>
          <p:nvPr/>
        </p:nvSpPr>
        <p:spPr>
          <a:xfrm>
            <a:off x="3060502" y="6930390"/>
            <a:ext cx="4221123" cy="15240"/>
          </a:xfrm>
          <a:prstGeom prst="rect">
            <a:avLst/>
          </a:prstGeom>
          <a:solidFill>
            <a:srgbClr val="F5F547"/>
          </a:solidFill>
          <a:ln/>
        </p:spPr>
      </p:sp>
      <p:sp>
        <p:nvSpPr>
          <p:cNvPr id="28" name="Text 20"/>
          <p:cNvSpPr/>
          <p:nvPr/>
        </p:nvSpPr>
        <p:spPr>
          <a:xfrm>
            <a:off x="3060502" y="7022425"/>
            <a:ext cx="1541502" cy="192643"/>
          </a:xfrm>
          <a:prstGeom prst="rect">
            <a:avLst/>
          </a:prstGeom>
          <a:noFill/>
          <a:ln/>
        </p:spPr>
        <p:txBody>
          <a:bodyPr wrap="none" lIns="0" tIns="0" rIns="0" bIns="0" rtlCol="0" anchor="t"/>
          <a:lstStyle/>
          <a:p>
            <a:pPr algn="l" indent="0" marL="0">
              <a:lnSpc>
                <a:spcPts val="1500"/>
              </a:lnSpc>
              <a:buNone/>
            </a:pPr>
            <a:r>
              <a:rPr lang="en-US" sz="1200" dirty="0">
                <a:solidFill>
                  <a:srgbClr val="BFBFBF"/>
                </a:solidFill>
                <a:latin typeface="Instrument Sans Medium" pitchFamily="34" charset="0"/>
                <a:ea typeface="Instrument Sans Medium" pitchFamily="34" charset="-122"/>
                <a:cs typeface="Instrument Sans Medium" pitchFamily="34" charset="-120"/>
              </a:rPr>
              <a:t>Áp dụng Template</a:t>
            </a:r>
            <a:endParaRPr lang="en-US" sz="1200" dirty="0"/>
          </a:p>
        </p:txBody>
      </p:sp>
      <p:sp>
        <p:nvSpPr>
          <p:cNvPr id="29" name="Text 21"/>
          <p:cNvSpPr/>
          <p:nvPr/>
        </p:nvSpPr>
        <p:spPr>
          <a:xfrm>
            <a:off x="3060502" y="7255193"/>
            <a:ext cx="4221123" cy="152281"/>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Open Sans" pitchFamily="34" charset="0"/>
                <a:ea typeface="Open Sans" pitchFamily="34" charset="-122"/>
                <a:cs typeface="Open Sans" pitchFamily="34" charset="-120"/>
              </a:rPr>
              <a:t>Định dạng theo template đã cấu hình sẵn</a:t>
            </a:r>
            <a:endParaRPr lang="en-US" sz="950" dirty="0"/>
          </a:p>
        </p:txBody>
      </p:sp>
      <p:sp>
        <p:nvSpPr>
          <p:cNvPr id="30" name="Text 22"/>
          <p:cNvSpPr/>
          <p:nvPr/>
        </p:nvSpPr>
        <p:spPr>
          <a:xfrm>
            <a:off x="7348657" y="6736199"/>
            <a:ext cx="123230" cy="154067"/>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Instrument Sans Light" pitchFamily="34" charset="0"/>
                <a:ea typeface="Instrument Sans Light" pitchFamily="34" charset="-122"/>
                <a:cs typeface="Instrument Sans Light" pitchFamily="34" charset="-120"/>
              </a:rPr>
              <a:t>05</a:t>
            </a:r>
            <a:endParaRPr lang="en-US" sz="950" dirty="0"/>
          </a:p>
        </p:txBody>
      </p:sp>
      <p:sp>
        <p:nvSpPr>
          <p:cNvPr id="31" name="Shape 23"/>
          <p:cNvSpPr/>
          <p:nvPr/>
        </p:nvSpPr>
        <p:spPr>
          <a:xfrm>
            <a:off x="7348657" y="6930390"/>
            <a:ext cx="4221123" cy="15240"/>
          </a:xfrm>
          <a:prstGeom prst="rect">
            <a:avLst/>
          </a:prstGeom>
          <a:solidFill>
            <a:srgbClr val="F5F547"/>
          </a:solidFill>
          <a:ln/>
        </p:spPr>
      </p:sp>
      <p:sp>
        <p:nvSpPr>
          <p:cNvPr id="32" name="Text 24"/>
          <p:cNvSpPr/>
          <p:nvPr/>
        </p:nvSpPr>
        <p:spPr>
          <a:xfrm>
            <a:off x="7348657" y="7022425"/>
            <a:ext cx="1541502" cy="192643"/>
          </a:xfrm>
          <a:prstGeom prst="rect">
            <a:avLst/>
          </a:prstGeom>
          <a:noFill/>
          <a:ln/>
        </p:spPr>
        <p:txBody>
          <a:bodyPr wrap="none" lIns="0" tIns="0" rIns="0" bIns="0" rtlCol="0" anchor="t"/>
          <a:lstStyle/>
          <a:p>
            <a:pPr algn="l" indent="0" marL="0">
              <a:lnSpc>
                <a:spcPts val="1500"/>
              </a:lnSpc>
              <a:buNone/>
            </a:pPr>
            <a:r>
              <a:rPr lang="en-US" sz="1200" dirty="0">
                <a:solidFill>
                  <a:srgbClr val="BFBFBF"/>
                </a:solidFill>
                <a:latin typeface="Instrument Sans Medium" pitchFamily="34" charset="0"/>
                <a:ea typeface="Instrument Sans Medium" pitchFamily="34" charset="-122"/>
                <a:cs typeface="Instrument Sans Medium" pitchFamily="34" charset="-120"/>
              </a:rPr>
              <a:t>Xuất kết quả</a:t>
            </a:r>
            <a:endParaRPr lang="en-US" sz="1200" dirty="0"/>
          </a:p>
        </p:txBody>
      </p:sp>
      <p:sp>
        <p:nvSpPr>
          <p:cNvPr id="33" name="Text 25"/>
          <p:cNvSpPr/>
          <p:nvPr/>
        </p:nvSpPr>
        <p:spPr>
          <a:xfrm>
            <a:off x="7348657" y="7255193"/>
            <a:ext cx="4221123" cy="152281"/>
          </a:xfrm>
          <a:prstGeom prst="rect">
            <a:avLst/>
          </a:prstGeom>
          <a:noFill/>
          <a:ln/>
        </p:spPr>
        <p:txBody>
          <a:bodyPr wrap="none" lIns="0" tIns="0" rIns="0" bIns="0" rtlCol="0" anchor="t"/>
          <a:lstStyle/>
          <a:p>
            <a:pPr algn="l" indent="0" marL="0">
              <a:lnSpc>
                <a:spcPts val="1150"/>
              </a:lnSpc>
              <a:buNone/>
            </a:pPr>
            <a:r>
              <a:rPr lang="en-US" sz="950" dirty="0">
                <a:solidFill>
                  <a:srgbClr val="BFBFBF"/>
                </a:solidFill>
                <a:latin typeface="Open Sans" pitchFamily="34" charset="0"/>
                <a:ea typeface="Open Sans" pitchFamily="34" charset="-122"/>
                <a:cs typeface="Open Sans" pitchFamily="34" charset="-120"/>
              </a:rPr>
              <a:t>Tạo ra release notes hoàn chỉnh để review hoặc publish</a:t>
            </a:r>
            <a:endParaRPr lang="en-US" sz="950" dirty="0"/>
          </a:p>
        </p:txBody>
      </p:sp>
      <p:sp>
        <p:nvSpPr>
          <p:cNvPr id="34" name="Text 26"/>
          <p:cNvSpPr/>
          <p:nvPr/>
        </p:nvSpPr>
        <p:spPr>
          <a:xfrm>
            <a:off x="3060502" y="7575233"/>
            <a:ext cx="8509278" cy="304562"/>
          </a:xfrm>
          <a:prstGeom prst="rect">
            <a:avLst/>
          </a:prstGeom>
          <a:noFill/>
          <a:ln/>
        </p:spPr>
        <p:txBody>
          <a:bodyPr wrap="square" lIns="0" tIns="0" rIns="0" bIns="0" rtlCol="0" anchor="t"/>
          <a:lstStyle/>
          <a:p>
            <a:pPr algn="l" indent="0" marL="0">
              <a:lnSpc>
                <a:spcPts val="1150"/>
              </a:lnSpc>
              <a:buNone/>
            </a:pPr>
            <a:r>
              <a:rPr lang="en-US" sz="950" i="1" dirty="0">
                <a:solidFill>
                  <a:srgbClr val="BFBFBF"/>
                </a:solidFill>
                <a:latin typeface="Open Sans" pitchFamily="34" charset="0"/>
                <a:ea typeface="Open Sans" pitchFamily="34" charset="-122"/>
                <a:cs typeface="Open Sans" pitchFamily="34" charset="-120"/>
              </a:rPr>
              <a:t>Speaker Notes: "Quy trình này chạy hoàn toàn tự động. Bạn chỉ cần cấu hình một lần, sau đó mỗi lần phát hành, extension sẽ tự động tạo release notes cho bạn."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961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Tính năng chính</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1912025"/>
            <a:ext cx="566976" cy="566976"/>
          </a:xfrm>
          <a:prstGeom prst="rect">
            <a:avLst/>
          </a:prstGeom>
        </p:spPr>
      </p:pic>
      <p:sp>
        <p:nvSpPr>
          <p:cNvPr id="4" name="Text 1"/>
          <p:cNvSpPr/>
          <p:nvPr/>
        </p:nvSpPr>
        <p:spPr>
          <a:xfrm>
            <a:off x="793790" y="27624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Tổng hợp bằng AI</a:t>
            </a:r>
            <a:endParaRPr lang="en-US" sz="2200" dirty="0"/>
          </a:p>
        </p:txBody>
      </p:sp>
      <p:sp>
        <p:nvSpPr>
          <p:cNvPr id="5" name="Text 2"/>
          <p:cNvSpPr/>
          <p:nvPr/>
        </p:nvSpPr>
        <p:spPr>
          <a:xfrm>
            <a:off x="793790" y="3252907"/>
            <a:ext cx="6379607"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Sử dụng AI để tạo mô tả tự nhiên từ commit messages, giúp release notes dễ đọc và chuyên nghiệp</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1912025"/>
            <a:ext cx="566976" cy="566976"/>
          </a:xfrm>
          <a:prstGeom prst="rect">
            <a:avLst/>
          </a:prstGeom>
        </p:spPr>
      </p:pic>
      <p:sp>
        <p:nvSpPr>
          <p:cNvPr id="7" name="Text 3"/>
          <p:cNvSpPr/>
          <p:nvPr/>
        </p:nvSpPr>
        <p:spPr>
          <a:xfrm>
            <a:off x="7456884" y="27624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Hệ thống Template</a:t>
            </a:r>
            <a:endParaRPr lang="en-US" sz="2200" dirty="0"/>
          </a:p>
        </p:txBody>
      </p:sp>
      <p:sp>
        <p:nvSpPr>
          <p:cNvPr id="8" name="Text 4"/>
          <p:cNvSpPr/>
          <p:nvPr/>
        </p:nvSpPr>
        <p:spPr>
          <a:xfrm>
            <a:off x="7456884" y="3252907"/>
            <a:ext cx="6379726"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Thiết kế template tùy chỉnh cho từng dự án, team, hoặc platform. Hỗ trợ nhiều format như Markdown, HTML, JSON</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432340"/>
            <a:ext cx="566976" cy="566976"/>
          </a:xfrm>
          <a:prstGeom prst="rect">
            <a:avLst/>
          </a:prstGeom>
        </p:spPr>
      </p:pic>
      <p:sp>
        <p:nvSpPr>
          <p:cNvPr id="10" name="Text 5"/>
          <p:cNvSpPr/>
          <p:nvPr/>
        </p:nvSpPr>
        <p:spPr>
          <a:xfrm>
            <a:off x="793790" y="5282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Tích hợp CI/CD</a:t>
            </a:r>
            <a:endParaRPr lang="en-US" sz="2200" dirty="0"/>
          </a:p>
        </p:txBody>
      </p:sp>
      <p:sp>
        <p:nvSpPr>
          <p:cNvPr id="11" name="Text 6"/>
          <p:cNvSpPr/>
          <p:nvPr/>
        </p:nvSpPr>
        <p:spPr>
          <a:xfrm>
            <a:off x="793790" y="5773222"/>
            <a:ext cx="6379607"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Chạy tự động trong pipeline, tạo release notes mỗi lần release mà không cần tương tác</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4432340"/>
            <a:ext cx="566976" cy="566976"/>
          </a:xfrm>
          <a:prstGeom prst="rect">
            <a:avLst/>
          </a:prstGeom>
        </p:spPr>
      </p:pic>
      <p:sp>
        <p:nvSpPr>
          <p:cNvPr id="13" name="Text 7"/>
          <p:cNvSpPr/>
          <p:nvPr/>
        </p:nvSpPr>
        <p:spPr>
          <a:xfrm>
            <a:off x="7456884" y="5282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Lọc và Nhóm</a:t>
            </a:r>
            <a:endParaRPr lang="en-US" sz="2200" dirty="0"/>
          </a:p>
        </p:txBody>
      </p:sp>
      <p:sp>
        <p:nvSpPr>
          <p:cNvPr id="14" name="Text 8"/>
          <p:cNvSpPr/>
          <p:nvPr/>
        </p:nvSpPr>
        <p:spPr>
          <a:xfrm>
            <a:off x="7456884" y="5773222"/>
            <a:ext cx="6379726"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Tự động phân loại commits theo type (feature, fix, chore, docs), tags, hoặc issue IDs</a:t>
            </a:r>
            <a:endParaRPr lang="en-US" sz="1750" dirty="0"/>
          </a:p>
        </p:txBody>
      </p:sp>
      <p:sp>
        <p:nvSpPr>
          <p:cNvPr id="15" name="Text 9"/>
          <p:cNvSpPr/>
          <p:nvPr/>
        </p:nvSpPr>
        <p:spPr>
          <a:xfrm>
            <a:off x="793790" y="6754177"/>
            <a:ext cx="13042821" cy="725805"/>
          </a:xfrm>
          <a:prstGeom prst="rect">
            <a:avLst/>
          </a:prstGeom>
          <a:noFill/>
          <a:ln/>
        </p:spPr>
        <p:txBody>
          <a:bodyPr wrap="square" lIns="0" tIns="0" rIns="0" bIns="0" rtlCol="0" anchor="t"/>
          <a:lstStyle/>
          <a:p>
            <a:pPr algn="l" indent="0" marL="0">
              <a:lnSpc>
                <a:spcPts val="2850"/>
              </a:lnSpc>
              <a:buNone/>
            </a:pPr>
            <a:r>
              <a:rPr lang="en-US" sz="1750" i="1" dirty="0">
                <a:solidFill>
                  <a:srgbClr val="BFBFBF"/>
                </a:solidFill>
                <a:latin typeface="Open Sans" pitchFamily="34" charset="0"/>
                <a:ea typeface="Open Sans" pitchFamily="34" charset="-122"/>
                <a:cs typeface="Open Sans" pitchFamily="34" charset="-120"/>
              </a:rPr>
              <a:t>Speaker Notes: "AI summary giúp biến commit messages thô thành mô tả dễ hiểu. Template system cho phép bạn tạo format release notes phù hợp với từng dự án. CI/CD integration đảm bảo release notes luôn được tạo mỗi lần release."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91634"/>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So sánh: Manual vs. Automated</a:t>
            </a:r>
            <a:endParaRPr lang="en-US" sz="4450" dirty="0"/>
          </a:p>
        </p:txBody>
      </p:sp>
      <p:sp>
        <p:nvSpPr>
          <p:cNvPr id="4" name="Text 1"/>
          <p:cNvSpPr/>
          <p:nvPr/>
        </p:nvSpPr>
        <p:spPr>
          <a:xfrm>
            <a:off x="793790" y="267616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EFEFE"/>
                </a:solidFill>
                <a:latin typeface="Instrument Sans Medium" pitchFamily="34" charset="0"/>
                <a:ea typeface="Instrument Sans Medium" pitchFamily="34" charset="-122"/>
                <a:cs typeface="Instrument Sans Medium" pitchFamily="34" charset="-120"/>
              </a:rPr>
              <a:t>Manual Process</a:t>
            </a:r>
            <a:endParaRPr lang="en-US" sz="2200" dirty="0"/>
          </a:p>
        </p:txBody>
      </p:sp>
      <p:sp>
        <p:nvSpPr>
          <p:cNvPr id="5" name="Text 2"/>
          <p:cNvSpPr/>
          <p:nvPr/>
        </p:nvSpPr>
        <p:spPr>
          <a:xfrm>
            <a:off x="793790" y="3257312"/>
            <a:ext cx="3501509" cy="249459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2-4 giờ cho mỗi release</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Phụ thuộc vào memory và notes</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Không nhất quán về format</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Có thể bị thiếu sót</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Cần effort mỗi lần</a:t>
            </a:r>
            <a:endParaRPr lang="en-US" sz="1750" dirty="0"/>
          </a:p>
        </p:txBody>
      </p:sp>
      <p:sp>
        <p:nvSpPr>
          <p:cNvPr id="6" name="Text 3"/>
          <p:cNvSpPr/>
          <p:nvPr/>
        </p:nvSpPr>
        <p:spPr>
          <a:xfrm>
            <a:off x="4856321" y="267616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EFEFE"/>
                </a:solidFill>
                <a:latin typeface="Instrument Sans Medium" pitchFamily="34" charset="0"/>
                <a:ea typeface="Instrument Sans Medium" pitchFamily="34" charset="-122"/>
                <a:cs typeface="Instrument Sans Medium" pitchFamily="34" charset="-120"/>
              </a:rPr>
              <a:t>Automated Process</a:t>
            </a:r>
            <a:endParaRPr lang="en-US" sz="2200" dirty="0"/>
          </a:p>
        </p:txBody>
      </p:sp>
      <p:sp>
        <p:nvSpPr>
          <p:cNvPr id="7" name="Text 4"/>
          <p:cNvSpPr/>
          <p:nvPr/>
        </p:nvSpPr>
        <p:spPr>
          <a:xfrm>
            <a:off x="4856321" y="3257312"/>
            <a:ext cx="3501509"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10-30 giây cho mỗi release</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Tự động từ Git history</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Format nhất quán</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Đầy đủ, không thiếu sót</a:t>
            </a:r>
            <a:endParaRPr lang="en-US" sz="1750" dirty="0"/>
          </a:p>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Zero effort sau setup</a:t>
            </a:r>
            <a:endParaRPr lang="en-US" sz="1750" dirty="0"/>
          </a:p>
        </p:txBody>
      </p:sp>
      <p:sp>
        <p:nvSpPr>
          <p:cNvPr id="8" name="Text 5"/>
          <p:cNvSpPr/>
          <p:nvPr/>
        </p:nvSpPr>
        <p:spPr>
          <a:xfrm>
            <a:off x="793790" y="6086356"/>
            <a:ext cx="7556421" cy="1451610"/>
          </a:xfrm>
          <a:prstGeom prst="rect">
            <a:avLst/>
          </a:prstGeom>
          <a:noFill/>
          <a:ln/>
        </p:spPr>
        <p:txBody>
          <a:bodyPr wrap="square" lIns="0" tIns="0" rIns="0" bIns="0" rtlCol="0" anchor="t"/>
          <a:lstStyle/>
          <a:p>
            <a:pPr algn="l" indent="0" marL="0">
              <a:lnSpc>
                <a:spcPts val="2850"/>
              </a:lnSpc>
              <a:buNone/>
            </a:pPr>
            <a:r>
              <a:rPr lang="en-US" sz="1750" i="1" dirty="0">
                <a:solidFill>
                  <a:srgbClr val="BFBFBF"/>
                </a:solidFill>
                <a:latin typeface="Open Sans" pitchFamily="34" charset="0"/>
                <a:ea typeface="Open Sans" pitchFamily="34" charset="-122"/>
                <a:cs typeface="Open Sans" pitchFamily="34" charset="-120"/>
              </a:rPr>
              <a:t>Speaker Notes: "Sự khác biệt về thời gian là rõ ràng. Với manual process, team của bạn mất 2-4 giờ mỗi lần release. Với automated process, chỉ mất 10-30 giây. Nếu release 4 lần/tháng, team có thể tiết kiệm 8-16 giờ/tháng."</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4746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Kiến trúc kỹ thuật</a:t>
            </a:r>
            <a:endParaRPr lang="en-US" sz="4450" dirty="0"/>
          </a:p>
        </p:txBody>
      </p:sp>
      <p:pic>
        <p:nvPicPr>
          <p:cNvPr id="3" name="Image 0" descr="preencoded.png">    </p:cNvPr>
          <p:cNvPicPr>
            <a:picLocks noChangeAspect="1"/>
          </p:cNvPicPr>
          <p:nvPr/>
        </p:nvPicPr>
        <p:blipFill>
          <a:blip r:embed="rId1"/>
          <a:stretch>
            <a:fillRect/>
          </a:stretch>
        </p:blipFill>
        <p:spPr>
          <a:xfrm>
            <a:off x="793790" y="1809869"/>
            <a:ext cx="6521410" cy="907256"/>
          </a:xfrm>
          <a:prstGeom prst="rect">
            <a:avLst/>
          </a:prstGeom>
        </p:spPr>
      </p:pic>
      <p:sp>
        <p:nvSpPr>
          <p:cNvPr id="4" name="Text 1"/>
          <p:cNvSpPr/>
          <p:nvPr/>
        </p:nvSpPr>
        <p:spPr>
          <a:xfrm>
            <a:off x="1020604" y="294393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Git Client</a:t>
            </a:r>
            <a:endParaRPr lang="en-US" sz="2200" dirty="0"/>
          </a:p>
        </p:txBody>
      </p:sp>
      <p:sp>
        <p:nvSpPr>
          <p:cNvPr id="5" name="Text 2"/>
          <p:cNvSpPr/>
          <p:nvPr/>
        </p:nvSpPr>
        <p:spPr>
          <a:xfrm>
            <a:off x="1020604" y="3434358"/>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Query commits và metadata từ repository</a:t>
            </a:r>
            <a:endParaRPr lang="en-US" sz="1750" dirty="0"/>
          </a:p>
        </p:txBody>
      </p:sp>
      <p:pic>
        <p:nvPicPr>
          <p:cNvPr id="6" name="Image 1" descr="preencoded.png">    </p:cNvPr>
          <p:cNvPicPr>
            <a:picLocks noChangeAspect="1"/>
          </p:cNvPicPr>
          <p:nvPr/>
        </p:nvPicPr>
        <p:blipFill>
          <a:blip r:embed="rId2"/>
          <a:stretch>
            <a:fillRect/>
          </a:stretch>
        </p:blipFill>
        <p:spPr>
          <a:xfrm>
            <a:off x="7315200" y="1809869"/>
            <a:ext cx="6521410" cy="907256"/>
          </a:xfrm>
          <a:prstGeom prst="rect">
            <a:avLst/>
          </a:prstGeom>
        </p:spPr>
      </p:pic>
      <p:sp>
        <p:nvSpPr>
          <p:cNvPr id="7" name="Text 3"/>
          <p:cNvSpPr/>
          <p:nvPr/>
        </p:nvSpPr>
        <p:spPr>
          <a:xfrm>
            <a:off x="7542014" y="294393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Parser Engine</a:t>
            </a:r>
            <a:endParaRPr lang="en-US" sz="2200" dirty="0"/>
          </a:p>
        </p:txBody>
      </p:sp>
      <p:sp>
        <p:nvSpPr>
          <p:cNvPr id="8" name="Text 4"/>
          <p:cNvSpPr/>
          <p:nvPr/>
        </p:nvSpPr>
        <p:spPr>
          <a:xfrm>
            <a:off x="7542014" y="3434358"/>
            <a:ext cx="6067782"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Parse commit messages, extract issues, tags, và categories</a:t>
            </a:r>
            <a:endParaRPr lang="en-US" sz="1750" dirty="0"/>
          </a:p>
        </p:txBody>
      </p:sp>
      <p:pic>
        <p:nvPicPr>
          <p:cNvPr id="9" name="Image 2" descr="preencoded.png">    </p:cNvPr>
          <p:cNvPicPr>
            <a:picLocks noChangeAspect="1"/>
          </p:cNvPicPr>
          <p:nvPr/>
        </p:nvPicPr>
        <p:blipFill>
          <a:blip r:embed="rId3"/>
          <a:stretch>
            <a:fillRect/>
          </a:stretch>
        </p:blipFill>
        <p:spPr>
          <a:xfrm>
            <a:off x="793790" y="4386977"/>
            <a:ext cx="6521410" cy="907256"/>
          </a:xfrm>
          <a:prstGeom prst="rect">
            <a:avLst/>
          </a:prstGeom>
        </p:spPr>
      </p:pic>
      <p:sp>
        <p:nvSpPr>
          <p:cNvPr id="10" name="Text 5"/>
          <p:cNvSpPr/>
          <p:nvPr/>
        </p:nvSpPr>
        <p:spPr>
          <a:xfrm>
            <a:off x="1020604" y="55210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AI Processor</a:t>
            </a:r>
            <a:endParaRPr lang="en-US" sz="2200" dirty="0"/>
          </a:p>
        </p:txBody>
      </p:sp>
      <p:sp>
        <p:nvSpPr>
          <p:cNvPr id="11" name="Text 6"/>
          <p:cNvSpPr/>
          <p:nvPr/>
        </p:nvSpPr>
        <p:spPr>
          <a:xfrm>
            <a:off x="1020604" y="6011466"/>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Tổng hợp mô tả bằng AI và post-process</a:t>
            </a:r>
            <a:endParaRPr lang="en-US" sz="1750" dirty="0"/>
          </a:p>
        </p:txBody>
      </p:sp>
      <p:pic>
        <p:nvPicPr>
          <p:cNvPr id="12" name="Image 3" descr="preencoded.png">    </p:cNvPr>
          <p:cNvPicPr>
            <a:picLocks noChangeAspect="1"/>
          </p:cNvPicPr>
          <p:nvPr/>
        </p:nvPicPr>
        <p:blipFill>
          <a:blip r:embed="rId4"/>
          <a:stretch>
            <a:fillRect/>
          </a:stretch>
        </p:blipFill>
        <p:spPr>
          <a:xfrm>
            <a:off x="7315200" y="4386977"/>
            <a:ext cx="6521410" cy="907256"/>
          </a:xfrm>
          <a:prstGeom prst="rect">
            <a:avLst/>
          </a:prstGeom>
        </p:spPr>
      </p:pic>
      <p:sp>
        <p:nvSpPr>
          <p:cNvPr id="13" name="Text 7"/>
          <p:cNvSpPr/>
          <p:nvPr/>
        </p:nvSpPr>
        <p:spPr>
          <a:xfrm>
            <a:off x="7542014" y="55210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Template Engine</a:t>
            </a:r>
            <a:endParaRPr lang="en-US" sz="2200" dirty="0"/>
          </a:p>
        </p:txBody>
      </p:sp>
      <p:sp>
        <p:nvSpPr>
          <p:cNvPr id="14" name="Text 8"/>
          <p:cNvSpPr/>
          <p:nvPr/>
        </p:nvSpPr>
        <p:spPr>
          <a:xfrm>
            <a:off x="7542014" y="6011466"/>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Áp dụng template và xuất ra format yêu cầu</a:t>
            </a:r>
            <a:endParaRPr lang="en-US" sz="1750" dirty="0"/>
          </a:p>
        </p:txBody>
      </p:sp>
      <p:sp>
        <p:nvSpPr>
          <p:cNvPr id="15" name="Text 9"/>
          <p:cNvSpPr/>
          <p:nvPr/>
        </p:nvSpPr>
        <p:spPr>
          <a:xfrm>
            <a:off x="793790" y="6856333"/>
            <a:ext cx="13042821" cy="725805"/>
          </a:xfrm>
          <a:prstGeom prst="rect">
            <a:avLst/>
          </a:prstGeom>
          <a:noFill/>
          <a:ln/>
        </p:spPr>
        <p:txBody>
          <a:bodyPr wrap="square" lIns="0" tIns="0" rIns="0" bIns="0" rtlCol="0" anchor="t"/>
          <a:lstStyle/>
          <a:p>
            <a:pPr algn="l" indent="0" marL="0">
              <a:lnSpc>
                <a:spcPts val="2850"/>
              </a:lnSpc>
              <a:buNone/>
            </a:pPr>
            <a:r>
              <a:rPr lang="en-US" sz="1750" i="1" dirty="0">
                <a:solidFill>
                  <a:srgbClr val="BFBFBF"/>
                </a:solidFill>
                <a:latin typeface="Open Sans" pitchFamily="34" charset="0"/>
                <a:ea typeface="Open Sans" pitchFamily="34" charset="-122"/>
                <a:cs typeface="Open Sans" pitchFamily="34" charset="-120"/>
              </a:rPr>
              <a:t>Speaker Notes: "Kiến trúc được thiết kế để dễ mở rộng. Git Client chịu trách nhiệm query commits. Parser Engine parse commit messages theo convention của team. AI Processor tổng hợp mô tả. Template Engine áp dụng format cuối cùng."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88150"/>
            <a:ext cx="8601551" cy="708779"/>
          </a:xfrm>
          <a:prstGeom prst="rect">
            <a:avLst/>
          </a:prstGeom>
          <a:noFill/>
          <a:ln/>
        </p:spPr>
        <p:txBody>
          <a:bodyPr wrap="non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Thách thức kỹ thuật và Giải pháp</a:t>
            </a:r>
            <a:endParaRPr lang="en-US" sz="4450" dirty="0"/>
          </a:p>
        </p:txBody>
      </p:sp>
      <p:sp>
        <p:nvSpPr>
          <p:cNvPr id="3" name="Shape 1"/>
          <p:cNvSpPr/>
          <p:nvPr/>
        </p:nvSpPr>
        <p:spPr>
          <a:xfrm>
            <a:off x="793790" y="2550557"/>
            <a:ext cx="4196358" cy="3309938"/>
          </a:xfrm>
          <a:prstGeom prst="roundRect">
            <a:avLst>
              <a:gd name="adj" fmla="val 4420"/>
            </a:avLst>
          </a:prstGeom>
          <a:solidFill>
            <a:srgbClr val="1F1F1F"/>
          </a:solidFill>
          <a:ln w="30480">
            <a:solidFill>
              <a:srgbClr val="575757"/>
            </a:solidFill>
            <a:prstDash val="solid"/>
          </a:ln>
        </p:spPr>
      </p:sp>
      <p:sp>
        <p:nvSpPr>
          <p:cNvPr id="4" name="Shape 2"/>
          <p:cNvSpPr/>
          <p:nvPr/>
        </p:nvSpPr>
        <p:spPr>
          <a:xfrm>
            <a:off x="763310" y="2550557"/>
            <a:ext cx="121920" cy="3309938"/>
          </a:xfrm>
          <a:prstGeom prst="roundRect">
            <a:avLst>
              <a:gd name="adj" fmla="val 27907"/>
            </a:avLst>
          </a:prstGeom>
          <a:solidFill>
            <a:srgbClr val="F5F547"/>
          </a:solidFill>
          <a:ln/>
        </p:spPr>
      </p:sp>
      <p:sp>
        <p:nvSpPr>
          <p:cNvPr id="5" name="Text 3"/>
          <p:cNvSpPr/>
          <p:nvPr/>
        </p:nvSpPr>
        <p:spPr>
          <a:xfrm>
            <a:off x="1142524" y="2807851"/>
            <a:ext cx="3590330" cy="708660"/>
          </a:xfrm>
          <a:prstGeom prst="rect">
            <a:avLst/>
          </a:prstGeom>
          <a:noFill/>
          <a:ln/>
        </p:spPr>
        <p:txBody>
          <a:bodyPr wrap="squar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Vấn đề: Performance với Repos lớn</a:t>
            </a:r>
            <a:endParaRPr lang="en-US" sz="2200" dirty="0"/>
          </a:p>
        </p:txBody>
      </p:sp>
      <p:sp>
        <p:nvSpPr>
          <p:cNvPr id="6" name="Text 4"/>
          <p:cNvSpPr/>
          <p:nvPr/>
        </p:nvSpPr>
        <p:spPr>
          <a:xfrm>
            <a:off x="1142524" y="3652599"/>
            <a:ext cx="3590330"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Repos với hàng nghìn commits làm chậm process</a:t>
            </a:r>
            <a:endParaRPr lang="en-US" sz="1750" dirty="0"/>
          </a:p>
        </p:txBody>
      </p:sp>
      <p:sp>
        <p:nvSpPr>
          <p:cNvPr id="7" name="Text 5"/>
          <p:cNvSpPr/>
          <p:nvPr/>
        </p:nvSpPr>
        <p:spPr>
          <a:xfrm>
            <a:off x="1142524" y="4514493"/>
            <a:ext cx="3590330" cy="1088708"/>
          </a:xfrm>
          <a:prstGeom prst="rect">
            <a:avLst/>
          </a:prstGeom>
          <a:noFill/>
          <a:ln/>
        </p:spPr>
        <p:txBody>
          <a:bodyPr wrap="square" lIns="0" tIns="0" rIns="0" bIns="0" rtlCol="0" anchor="t"/>
          <a:lstStyle/>
          <a:p>
            <a:pPr algn="l" indent="0" marL="0">
              <a:lnSpc>
                <a:spcPts val="2850"/>
              </a:lnSpc>
              <a:buNone/>
            </a:pPr>
            <a:r>
              <a:rPr lang="en-US" sz="1750" b="1" dirty="0">
                <a:solidFill>
                  <a:srgbClr val="BFBFBF"/>
                </a:solidFill>
                <a:latin typeface="Open Sans" pitchFamily="34" charset="0"/>
                <a:ea typeface="Open Sans" pitchFamily="34" charset="-122"/>
                <a:cs typeface="Open Sans" pitchFamily="34" charset="-120"/>
              </a:rPr>
              <a:t>Giải pháp:</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Caching layer, query commits theo range, parallel processing</a:t>
            </a:r>
            <a:endParaRPr lang="en-US" sz="1750" dirty="0"/>
          </a:p>
        </p:txBody>
      </p:sp>
      <p:sp>
        <p:nvSpPr>
          <p:cNvPr id="8" name="Shape 6"/>
          <p:cNvSpPr/>
          <p:nvPr/>
        </p:nvSpPr>
        <p:spPr>
          <a:xfrm>
            <a:off x="5216962" y="2550557"/>
            <a:ext cx="4196358" cy="3309938"/>
          </a:xfrm>
          <a:prstGeom prst="roundRect">
            <a:avLst>
              <a:gd name="adj" fmla="val 4420"/>
            </a:avLst>
          </a:prstGeom>
          <a:solidFill>
            <a:srgbClr val="1F1F1F"/>
          </a:solidFill>
          <a:ln w="30480">
            <a:solidFill>
              <a:srgbClr val="575757"/>
            </a:solidFill>
            <a:prstDash val="solid"/>
          </a:ln>
        </p:spPr>
      </p:sp>
      <p:sp>
        <p:nvSpPr>
          <p:cNvPr id="9" name="Shape 7"/>
          <p:cNvSpPr/>
          <p:nvPr/>
        </p:nvSpPr>
        <p:spPr>
          <a:xfrm>
            <a:off x="5186482" y="2550557"/>
            <a:ext cx="121920" cy="3309938"/>
          </a:xfrm>
          <a:prstGeom prst="roundRect">
            <a:avLst>
              <a:gd name="adj" fmla="val 27907"/>
            </a:avLst>
          </a:prstGeom>
          <a:solidFill>
            <a:srgbClr val="F5F547"/>
          </a:solidFill>
          <a:ln/>
        </p:spPr>
      </p:sp>
      <p:sp>
        <p:nvSpPr>
          <p:cNvPr id="10" name="Text 8"/>
          <p:cNvSpPr/>
          <p:nvPr/>
        </p:nvSpPr>
        <p:spPr>
          <a:xfrm>
            <a:off x="5565696" y="2807851"/>
            <a:ext cx="3590330" cy="708660"/>
          </a:xfrm>
          <a:prstGeom prst="rect">
            <a:avLst/>
          </a:prstGeom>
          <a:noFill/>
          <a:ln/>
        </p:spPr>
        <p:txBody>
          <a:bodyPr wrap="squar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Vấn đề: Rate Limit từ Git APIs</a:t>
            </a:r>
            <a:endParaRPr lang="en-US" sz="2200" dirty="0"/>
          </a:p>
        </p:txBody>
      </p:sp>
      <p:sp>
        <p:nvSpPr>
          <p:cNvPr id="11" name="Text 9"/>
          <p:cNvSpPr/>
          <p:nvPr/>
        </p:nvSpPr>
        <p:spPr>
          <a:xfrm>
            <a:off x="5565696" y="3652599"/>
            <a:ext cx="3590330"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API calls bị giới hạn, đặc biệt với GitLab và Bitbucket</a:t>
            </a:r>
            <a:endParaRPr lang="en-US" sz="1750" dirty="0"/>
          </a:p>
        </p:txBody>
      </p:sp>
      <p:sp>
        <p:nvSpPr>
          <p:cNvPr id="12" name="Text 10"/>
          <p:cNvSpPr/>
          <p:nvPr/>
        </p:nvSpPr>
        <p:spPr>
          <a:xfrm>
            <a:off x="5565696" y="4514493"/>
            <a:ext cx="3590330" cy="725805"/>
          </a:xfrm>
          <a:prstGeom prst="rect">
            <a:avLst/>
          </a:prstGeom>
          <a:noFill/>
          <a:ln/>
        </p:spPr>
        <p:txBody>
          <a:bodyPr wrap="square" lIns="0" tIns="0" rIns="0" bIns="0" rtlCol="0" anchor="t"/>
          <a:lstStyle/>
          <a:p>
            <a:pPr algn="l" indent="0" marL="0">
              <a:lnSpc>
                <a:spcPts val="2850"/>
              </a:lnSpc>
              <a:buNone/>
            </a:pPr>
            <a:r>
              <a:rPr lang="en-US" sz="1750" b="1" dirty="0">
                <a:solidFill>
                  <a:srgbClr val="BFBFBF"/>
                </a:solidFill>
                <a:latin typeface="Open Sans" pitchFamily="34" charset="0"/>
                <a:ea typeface="Open Sans" pitchFamily="34" charset="-122"/>
                <a:cs typeface="Open Sans" pitchFamily="34" charset="-120"/>
              </a:rPr>
              <a:t>Giải pháp:</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Exponential backoff, retry logic, và batch requests</a:t>
            </a:r>
            <a:endParaRPr lang="en-US" sz="1750" dirty="0"/>
          </a:p>
        </p:txBody>
      </p:sp>
      <p:sp>
        <p:nvSpPr>
          <p:cNvPr id="13" name="Shape 11"/>
          <p:cNvSpPr/>
          <p:nvPr/>
        </p:nvSpPr>
        <p:spPr>
          <a:xfrm>
            <a:off x="9640133" y="2550557"/>
            <a:ext cx="4196358" cy="3309938"/>
          </a:xfrm>
          <a:prstGeom prst="roundRect">
            <a:avLst>
              <a:gd name="adj" fmla="val 4420"/>
            </a:avLst>
          </a:prstGeom>
          <a:solidFill>
            <a:srgbClr val="1F1F1F"/>
          </a:solidFill>
          <a:ln w="30480">
            <a:solidFill>
              <a:srgbClr val="575757"/>
            </a:solidFill>
            <a:prstDash val="solid"/>
          </a:ln>
        </p:spPr>
      </p:sp>
      <p:sp>
        <p:nvSpPr>
          <p:cNvPr id="14" name="Shape 12"/>
          <p:cNvSpPr/>
          <p:nvPr/>
        </p:nvSpPr>
        <p:spPr>
          <a:xfrm>
            <a:off x="9609653" y="2550557"/>
            <a:ext cx="121920" cy="3309938"/>
          </a:xfrm>
          <a:prstGeom prst="roundRect">
            <a:avLst>
              <a:gd name="adj" fmla="val 27907"/>
            </a:avLst>
          </a:prstGeom>
          <a:solidFill>
            <a:srgbClr val="F5F547"/>
          </a:solidFill>
          <a:ln/>
        </p:spPr>
      </p:sp>
      <p:sp>
        <p:nvSpPr>
          <p:cNvPr id="15" name="Text 13"/>
          <p:cNvSpPr/>
          <p:nvPr/>
        </p:nvSpPr>
        <p:spPr>
          <a:xfrm>
            <a:off x="9988868" y="2807851"/>
            <a:ext cx="3590330" cy="708660"/>
          </a:xfrm>
          <a:prstGeom prst="rect">
            <a:avLst/>
          </a:prstGeom>
          <a:noFill/>
          <a:ln/>
        </p:spPr>
        <p:txBody>
          <a:bodyPr wrap="square" lIns="0" tIns="0" rIns="0" bIns="0" rtlCol="0" anchor="t"/>
          <a:lstStyle/>
          <a:p>
            <a:pPr algn="l" indent="0" marL="0">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Vấn đề: Memory với Repos lớn</a:t>
            </a:r>
            <a:endParaRPr lang="en-US" sz="2200" dirty="0"/>
          </a:p>
        </p:txBody>
      </p:sp>
      <p:sp>
        <p:nvSpPr>
          <p:cNvPr id="16" name="Text 14"/>
          <p:cNvSpPr/>
          <p:nvPr/>
        </p:nvSpPr>
        <p:spPr>
          <a:xfrm>
            <a:off x="9988868" y="3652599"/>
            <a:ext cx="3590330" cy="725805"/>
          </a:xfrm>
          <a:prstGeom prst="rect">
            <a:avLst/>
          </a:prstGeom>
          <a:noFill/>
          <a:ln/>
        </p:spPr>
        <p:txBody>
          <a:bodyPr wrap="squar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Load tất cả commits vào memory có thể gây OOM</a:t>
            </a:r>
            <a:endParaRPr lang="en-US" sz="1750" dirty="0"/>
          </a:p>
        </p:txBody>
      </p:sp>
      <p:sp>
        <p:nvSpPr>
          <p:cNvPr id="17" name="Text 15"/>
          <p:cNvSpPr/>
          <p:nvPr/>
        </p:nvSpPr>
        <p:spPr>
          <a:xfrm>
            <a:off x="9988868" y="4514493"/>
            <a:ext cx="3590330" cy="725805"/>
          </a:xfrm>
          <a:prstGeom prst="rect">
            <a:avLst/>
          </a:prstGeom>
          <a:noFill/>
          <a:ln/>
        </p:spPr>
        <p:txBody>
          <a:bodyPr wrap="square" lIns="0" tIns="0" rIns="0" bIns="0" rtlCol="0" anchor="t"/>
          <a:lstStyle/>
          <a:p>
            <a:pPr algn="l" indent="0" marL="0">
              <a:lnSpc>
                <a:spcPts val="2850"/>
              </a:lnSpc>
              <a:buNone/>
            </a:pPr>
            <a:r>
              <a:rPr lang="en-US" sz="1750" b="1" dirty="0">
                <a:solidFill>
                  <a:srgbClr val="BFBFBF"/>
                </a:solidFill>
                <a:latin typeface="Open Sans" pitchFamily="34" charset="0"/>
                <a:ea typeface="Open Sans" pitchFamily="34" charset="-122"/>
                <a:cs typeface="Open Sans" pitchFamily="34" charset="-120"/>
              </a:rPr>
              <a:t>Giải pháp:</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Streaming processing, process commits theo batch</a:t>
            </a:r>
            <a:endParaRPr lang="en-US" sz="1750" dirty="0"/>
          </a:p>
        </p:txBody>
      </p:sp>
      <p:sp>
        <p:nvSpPr>
          <p:cNvPr id="18" name="Text 16"/>
          <p:cNvSpPr/>
          <p:nvPr/>
        </p:nvSpPr>
        <p:spPr>
          <a:xfrm>
            <a:off x="793790" y="6115645"/>
            <a:ext cx="13042821" cy="725805"/>
          </a:xfrm>
          <a:prstGeom prst="rect">
            <a:avLst/>
          </a:prstGeom>
          <a:noFill/>
          <a:ln/>
        </p:spPr>
        <p:txBody>
          <a:bodyPr wrap="square" lIns="0" tIns="0" rIns="0" bIns="0" rtlCol="0" anchor="t"/>
          <a:lstStyle/>
          <a:p>
            <a:pPr algn="l" indent="0" marL="0">
              <a:lnSpc>
                <a:spcPts val="2850"/>
              </a:lnSpc>
              <a:buNone/>
            </a:pPr>
            <a:r>
              <a:rPr lang="en-US" sz="1750" i="1" dirty="0">
                <a:solidFill>
                  <a:srgbClr val="BFBFBF"/>
                </a:solidFill>
                <a:latin typeface="Open Sans" pitchFamily="34" charset="0"/>
                <a:ea typeface="Open Sans" pitchFamily="34" charset="-122"/>
                <a:cs typeface="Open Sans" pitchFamily="34" charset="-120"/>
              </a:rPr>
              <a:t>Speaker Notes: "Performance là thách thức lớn nhất. Với repos có hàng nghìn commits, việc query và parse có thể chậm. Chúng tôi đã implement caching, parallel processing, và streaming để giải quyết vấn đề này."</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8661" y="734735"/>
            <a:ext cx="5133499" cy="641747"/>
          </a:xfrm>
          <a:prstGeom prst="rect">
            <a:avLst/>
          </a:prstGeom>
          <a:noFill/>
          <a:ln/>
        </p:spPr>
        <p:txBody>
          <a:bodyPr wrap="none" lIns="0" tIns="0" rIns="0" bIns="0" rtlCol="0" anchor="t"/>
          <a:lstStyle/>
          <a:p>
            <a:pPr algn="l" indent="0" marL="0">
              <a:lnSpc>
                <a:spcPts val="5050"/>
              </a:lnSpc>
              <a:buNone/>
            </a:pPr>
            <a:r>
              <a:rPr lang="en-US" sz="4000" dirty="0">
                <a:solidFill>
                  <a:srgbClr val="FEFEFE"/>
                </a:solidFill>
                <a:latin typeface="Instrument Sans Medium" pitchFamily="34" charset="0"/>
                <a:ea typeface="Instrument Sans Medium" pitchFamily="34" charset="-122"/>
                <a:cs typeface="Instrument Sans Medium" pitchFamily="34" charset="-120"/>
              </a:rPr>
              <a:t>Đường đi tương lai</a:t>
            </a:r>
            <a:endParaRPr lang="en-US" sz="4000" dirty="0"/>
          </a:p>
        </p:txBody>
      </p:sp>
      <p:sp>
        <p:nvSpPr>
          <p:cNvPr id="4" name="Shape 1"/>
          <p:cNvSpPr/>
          <p:nvPr/>
        </p:nvSpPr>
        <p:spPr>
          <a:xfrm>
            <a:off x="949643" y="1655207"/>
            <a:ext cx="22860" cy="4378404"/>
          </a:xfrm>
          <a:prstGeom prst="roundRect">
            <a:avLst>
              <a:gd name="adj" fmla="val 134740"/>
            </a:avLst>
          </a:prstGeom>
          <a:solidFill>
            <a:srgbClr val="575757"/>
          </a:solidFill>
          <a:ln/>
        </p:spPr>
      </p:sp>
      <p:sp>
        <p:nvSpPr>
          <p:cNvPr id="5" name="Shape 2"/>
          <p:cNvSpPr/>
          <p:nvPr/>
        </p:nvSpPr>
        <p:spPr>
          <a:xfrm>
            <a:off x="1157764" y="1874758"/>
            <a:ext cx="615910" cy="22860"/>
          </a:xfrm>
          <a:prstGeom prst="roundRect">
            <a:avLst>
              <a:gd name="adj" fmla="val 134740"/>
            </a:avLst>
          </a:prstGeom>
          <a:solidFill>
            <a:srgbClr val="575757"/>
          </a:solidFill>
          <a:ln/>
        </p:spPr>
      </p:sp>
      <p:sp>
        <p:nvSpPr>
          <p:cNvPr id="6" name="Shape 3"/>
          <p:cNvSpPr/>
          <p:nvPr/>
        </p:nvSpPr>
        <p:spPr>
          <a:xfrm>
            <a:off x="718661" y="1655207"/>
            <a:ext cx="461963" cy="461963"/>
          </a:xfrm>
          <a:prstGeom prst="roundRect">
            <a:avLst>
              <a:gd name="adj" fmla="val 6668"/>
            </a:avLst>
          </a:prstGeom>
          <a:solidFill>
            <a:srgbClr val="3E3E3E"/>
          </a:solidFill>
          <a:ln/>
        </p:spPr>
      </p:sp>
      <p:sp>
        <p:nvSpPr>
          <p:cNvPr id="7" name="Text 4"/>
          <p:cNvSpPr/>
          <p:nvPr/>
        </p:nvSpPr>
        <p:spPr>
          <a:xfrm>
            <a:off x="795695" y="1693724"/>
            <a:ext cx="307896" cy="384929"/>
          </a:xfrm>
          <a:prstGeom prst="rect">
            <a:avLst/>
          </a:prstGeom>
          <a:noFill/>
          <a:ln/>
        </p:spPr>
        <p:txBody>
          <a:bodyPr wrap="none" lIns="0" tIns="0" rIns="0" bIns="0" rtlCol="0" anchor="t"/>
          <a:lstStyle/>
          <a:p>
            <a:pPr algn="ctr" indent="0" marL="0">
              <a:lnSpc>
                <a:spcPts val="2400"/>
              </a:lnSpc>
              <a:buNone/>
            </a:pPr>
            <a:r>
              <a:rPr lang="en-US" sz="2400" dirty="0">
                <a:solidFill>
                  <a:srgbClr val="BFBFBF"/>
                </a:solidFill>
                <a:latin typeface="Instrument Sans Medium" pitchFamily="34" charset="0"/>
                <a:ea typeface="Instrument Sans Medium" pitchFamily="34" charset="-122"/>
                <a:cs typeface="Instrument Sans Medium" pitchFamily="34" charset="-120"/>
              </a:rPr>
              <a:t>1</a:t>
            </a:r>
            <a:endParaRPr lang="en-US" sz="2400" dirty="0"/>
          </a:p>
        </p:txBody>
      </p:sp>
      <p:sp>
        <p:nvSpPr>
          <p:cNvPr id="8" name="Text 5"/>
          <p:cNvSpPr/>
          <p:nvPr/>
        </p:nvSpPr>
        <p:spPr>
          <a:xfrm>
            <a:off x="1976318" y="1725692"/>
            <a:ext cx="2566749" cy="320873"/>
          </a:xfrm>
          <a:prstGeom prst="rect">
            <a:avLst/>
          </a:prstGeom>
          <a:noFill/>
          <a:ln/>
        </p:spPr>
        <p:txBody>
          <a:bodyPr wrap="none" lIns="0" tIns="0" rIns="0" bIns="0" rtlCol="0" anchor="t"/>
          <a:lstStyle/>
          <a:p>
            <a:pPr algn="l" indent="0" marL="0">
              <a:lnSpc>
                <a:spcPts val="25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Q2 2024</a:t>
            </a:r>
            <a:endParaRPr lang="en-US" sz="2000" dirty="0"/>
          </a:p>
        </p:txBody>
      </p:sp>
      <p:sp>
        <p:nvSpPr>
          <p:cNvPr id="9" name="Text 6"/>
          <p:cNvSpPr/>
          <p:nvPr/>
        </p:nvSpPr>
        <p:spPr>
          <a:xfrm>
            <a:off x="1976318" y="2158008"/>
            <a:ext cx="6449020" cy="313015"/>
          </a:xfrm>
          <a:prstGeom prst="rect">
            <a:avLst/>
          </a:prstGeom>
          <a:noFill/>
          <a:ln/>
        </p:spPr>
        <p:txBody>
          <a:bodyPr wrap="none" lIns="0" tIns="0" rIns="0" bIns="0" rtlCol="0" anchor="t"/>
          <a:lstStyle/>
          <a:p>
            <a:pPr algn="l" indent="0" marL="0">
              <a:lnSpc>
                <a:spcPts val="2450"/>
              </a:lnSpc>
              <a:buNone/>
            </a:pPr>
            <a:r>
              <a:rPr lang="en-US" sz="1600" dirty="0">
                <a:solidFill>
                  <a:srgbClr val="BFBFBF"/>
                </a:solidFill>
                <a:latin typeface="Open Sans" pitchFamily="34" charset="0"/>
                <a:ea typeface="Open Sans" pitchFamily="34" charset="-122"/>
                <a:cs typeface="Open Sans" pitchFamily="34" charset="-120"/>
              </a:rPr>
              <a:t>Support GitLab và Bitbucket APIs</a:t>
            </a:r>
            <a:endParaRPr lang="en-US" sz="1600" dirty="0"/>
          </a:p>
        </p:txBody>
      </p:sp>
      <p:sp>
        <p:nvSpPr>
          <p:cNvPr id="10" name="Shape 7"/>
          <p:cNvSpPr/>
          <p:nvPr/>
        </p:nvSpPr>
        <p:spPr>
          <a:xfrm>
            <a:off x="1157764" y="3062288"/>
            <a:ext cx="615910" cy="22860"/>
          </a:xfrm>
          <a:prstGeom prst="roundRect">
            <a:avLst>
              <a:gd name="adj" fmla="val 134740"/>
            </a:avLst>
          </a:prstGeom>
          <a:solidFill>
            <a:srgbClr val="575757"/>
          </a:solidFill>
          <a:ln/>
        </p:spPr>
      </p:sp>
      <p:sp>
        <p:nvSpPr>
          <p:cNvPr id="11" name="Shape 8"/>
          <p:cNvSpPr/>
          <p:nvPr/>
        </p:nvSpPr>
        <p:spPr>
          <a:xfrm>
            <a:off x="718661" y="2842736"/>
            <a:ext cx="461963" cy="461963"/>
          </a:xfrm>
          <a:prstGeom prst="roundRect">
            <a:avLst>
              <a:gd name="adj" fmla="val 6668"/>
            </a:avLst>
          </a:prstGeom>
          <a:solidFill>
            <a:srgbClr val="3E3E3E"/>
          </a:solidFill>
          <a:ln/>
        </p:spPr>
      </p:sp>
      <p:sp>
        <p:nvSpPr>
          <p:cNvPr id="12" name="Text 9"/>
          <p:cNvSpPr/>
          <p:nvPr/>
        </p:nvSpPr>
        <p:spPr>
          <a:xfrm>
            <a:off x="795695" y="2881253"/>
            <a:ext cx="307896" cy="384929"/>
          </a:xfrm>
          <a:prstGeom prst="rect">
            <a:avLst/>
          </a:prstGeom>
          <a:noFill/>
          <a:ln/>
        </p:spPr>
        <p:txBody>
          <a:bodyPr wrap="none" lIns="0" tIns="0" rIns="0" bIns="0" rtlCol="0" anchor="t"/>
          <a:lstStyle/>
          <a:p>
            <a:pPr algn="ctr" indent="0" marL="0">
              <a:lnSpc>
                <a:spcPts val="2400"/>
              </a:lnSpc>
              <a:buNone/>
            </a:pPr>
            <a:r>
              <a:rPr lang="en-US" sz="2400" dirty="0">
                <a:solidFill>
                  <a:srgbClr val="BFBFBF"/>
                </a:solidFill>
                <a:latin typeface="Instrument Sans Medium" pitchFamily="34" charset="0"/>
                <a:ea typeface="Instrument Sans Medium" pitchFamily="34" charset="-122"/>
                <a:cs typeface="Instrument Sans Medium" pitchFamily="34" charset="-120"/>
              </a:rPr>
              <a:t>2</a:t>
            </a:r>
            <a:endParaRPr lang="en-US" sz="2400" dirty="0"/>
          </a:p>
        </p:txBody>
      </p:sp>
      <p:sp>
        <p:nvSpPr>
          <p:cNvPr id="13" name="Text 10"/>
          <p:cNvSpPr/>
          <p:nvPr/>
        </p:nvSpPr>
        <p:spPr>
          <a:xfrm>
            <a:off x="1976318" y="2913221"/>
            <a:ext cx="2566749" cy="320873"/>
          </a:xfrm>
          <a:prstGeom prst="rect">
            <a:avLst/>
          </a:prstGeom>
          <a:noFill/>
          <a:ln/>
        </p:spPr>
        <p:txBody>
          <a:bodyPr wrap="none" lIns="0" tIns="0" rIns="0" bIns="0" rtlCol="0" anchor="t"/>
          <a:lstStyle/>
          <a:p>
            <a:pPr algn="l" indent="0" marL="0">
              <a:lnSpc>
                <a:spcPts val="25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Q3 2024</a:t>
            </a:r>
            <a:endParaRPr lang="en-US" sz="2000" dirty="0"/>
          </a:p>
        </p:txBody>
      </p:sp>
      <p:sp>
        <p:nvSpPr>
          <p:cNvPr id="14" name="Text 11"/>
          <p:cNvSpPr/>
          <p:nvPr/>
        </p:nvSpPr>
        <p:spPr>
          <a:xfrm>
            <a:off x="1976318" y="3345537"/>
            <a:ext cx="6449020" cy="313015"/>
          </a:xfrm>
          <a:prstGeom prst="rect">
            <a:avLst/>
          </a:prstGeom>
          <a:noFill/>
          <a:ln/>
        </p:spPr>
        <p:txBody>
          <a:bodyPr wrap="none" lIns="0" tIns="0" rIns="0" bIns="0" rtlCol="0" anchor="t"/>
          <a:lstStyle/>
          <a:p>
            <a:pPr algn="l" indent="0" marL="0">
              <a:lnSpc>
                <a:spcPts val="2450"/>
              </a:lnSpc>
              <a:buNone/>
            </a:pPr>
            <a:r>
              <a:rPr lang="en-US" sz="1600" dirty="0">
                <a:solidFill>
                  <a:srgbClr val="BFBFBF"/>
                </a:solidFill>
                <a:latin typeface="Open Sans" pitchFamily="34" charset="0"/>
                <a:ea typeface="Open Sans" pitchFamily="34" charset="-122"/>
                <a:cs typeface="Open Sans" pitchFamily="34" charset="-120"/>
              </a:rPr>
              <a:t>Web dashboard cho release notes</a:t>
            </a:r>
            <a:endParaRPr lang="en-US" sz="1600" dirty="0"/>
          </a:p>
        </p:txBody>
      </p:sp>
      <p:sp>
        <p:nvSpPr>
          <p:cNvPr id="15" name="Shape 12"/>
          <p:cNvSpPr/>
          <p:nvPr/>
        </p:nvSpPr>
        <p:spPr>
          <a:xfrm>
            <a:off x="1157764" y="4249817"/>
            <a:ext cx="615910" cy="22860"/>
          </a:xfrm>
          <a:prstGeom prst="roundRect">
            <a:avLst>
              <a:gd name="adj" fmla="val 134740"/>
            </a:avLst>
          </a:prstGeom>
          <a:solidFill>
            <a:srgbClr val="575757"/>
          </a:solidFill>
          <a:ln/>
        </p:spPr>
      </p:sp>
      <p:sp>
        <p:nvSpPr>
          <p:cNvPr id="16" name="Shape 13"/>
          <p:cNvSpPr/>
          <p:nvPr/>
        </p:nvSpPr>
        <p:spPr>
          <a:xfrm>
            <a:off x="718661" y="4030266"/>
            <a:ext cx="461963" cy="461963"/>
          </a:xfrm>
          <a:prstGeom prst="roundRect">
            <a:avLst>
              <a:gd name="adj" fmla="val 6668"/>
            </a:avLst>
          </a:prstGeom>
          <a:solidFill>
            <a:srgbClr val="3E3E3E"/>
          </a:solidFill>
          <a:ln/>
        </p:spPr>
      </p:sp>
      <p:sp>
        <p:nvSpPr>
          <p:cNvPr id="17" name="Text 14"/>
          <p:cNvSpPr/>
          <p:nvPr/>
        </p:nvSpPr>
        <p:spPr>
          <a:xfrm>
            <a:off x="795695" y="4068782"/>
            <a:ext cx="307896" cy="384929"/>
          </a:xfrm>
          <a:prstGeom prst="rect">
            <a:avLst/>
          </a:prstGeom>
          <a:noFill/>
          <a:ln/>
        </p:spPr>
        <p:txBody>
          <a:bodyPr wrap="none" lIns="0" tIns="0" rIns="0" bIns="0" rtlCol="0" anchor="t"/>
          <a:lstStyle/>
          <a:p>
            <a:pPr algn="ctr" indent="0" marL="0">
              <a:lnSpc>
                <a:spcPts val="2400"/>
              </a:lnSpc>
              <a:buNone/>
            </a:pPr>
            <a:r>
              <a:rPr lang="en-US" sz="2400" dirty="0">
                <a:solidFill>
                  <a:srgbClr val="BFBFBF"/>
                </a:solidFill>
                <a:latin typeface="Instrument Sans Medium" pitchFamily="34" charset="0"/>
                <a:ea typeface="Instrument Sans Medium" pitchFamily="34" charset="-122"/>
                <a:cs typeface="Instrument Sans Medium" pitchFamily="34" charset="-120"/>
              </a:rPr>
              <a:t>3</a:t>
            </a:r>
            <a:endParaRPr lang="en-US" sz="2400" dirty="0"/>
          </a:p>
        </p:txBody>
      </p:sp>
      <p:sp>
        <p:nvSpPr>
          <p:cNvPr id="18" name="Text 15"/>
          <p:cNvSpPr/>
          <p:nvPr/>
        </p:nvSpPr>
        <p:spPr>
          <a:xfrm>
            <a:off x="1976318" y="4100751"/>
            <a:ext cx="2566749" cy="320873"/>
          </a:xfrm>
          <a:prstGeom prst="rect">
            <a:avLst/>
          </a:prstGeom>
          <a:noFill/>
          <a:ln/>
        </p:spPr>
        <p:txBody>
          <a:bodyPr wrap="none" lIns="0" tIns="0" rIns="0" bIns="0" rtlCol="0" anchor="t"/>
          <a:lstStyle/>
          <a:p>
            <a:pPr algn="l" indent="0" marL="0">
              <a:lnSpc>
                <a:spcPts val="25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Q4 2024</a:t>
            </a:r>
            <a:endParaRPr lang="en-US" sz="2000" dirty="0"/>
          </a:p>
        </p:txBody>
      </p:sp>
      <p:sp>
        <p:nvSpPr>
          <p:cNvPr id="19" name="Text 16"/>
          <p:cNvSpPr/>
          <p:nvPr/>
        </p:nvSpPr>
        <p:spPr>
          <a:xfrm>
            <a:off x="1976318" y="4533067"/>
            <a:ext cx="6449020" cy="313015"/>
          </a:xfrm>
          <a:prstGeom prst="rect">
            <a:avLst/>
          </a:prstGeom>
          <a:noFill/>
          <a:ln/>
        </p:spPr>
        <p:txBody>
          <a:bodyPr wrap="none" lIns="0" tIns="0" rIns="0" bIns="0" rtlCol="0" anchor="t"/>
          <a:lstStyle/>
          <a:p>
            <a:pPr algn="l" indent="0" marL="0">
              <a:lnSpc>
                <a:spcPts val="2450"/>
              </a:lnSpc>
              <a:buNone/>
            </a:pPr>
            <a:r>
              <a:rPr lang="en-US" sz="1600" dirty="0">
                <a:solidFill>
                  <a:srgbClr val="BFBFBF"/>
                </a:solidFill>
                <a:latin typeface="Open Sans" pitchFamily="34" charset="0"/>
                <a:ea typeface="Open Sans" pitchFamily="34" charset="-122"/>
                <a:cs typeface="Open Sans" pitchFamily="34" charset="-120"/>
              </a:rPr>
              <a:t>Integrations với Slack, Teams, và Jira</a:t>
            </a:r>
            <a:endParaRPr lang="en-US" sz="1600" dirty="0"/>
          </a:p>
        </p:txBody>
      </p:sp>
      <p:sp>
        <p:nvSpPr>
          <p:cNvPr id="20" name="Shape 17"/>
          <p:cNvSpPr/>
          <p:nvPr/>
        </p:nvSpPr>
        <p:spPr>
          <a:xfrm>
            <a:off x="1157764" y="5437346"/>
            <a:ext cx="615910" cy="22860"/>
          </a:xfrm>
          <a:prstGeom prst="roundRect">
            <a:avLst>
              <a:gd name="adj" fmla="val 134740"/>
            </a:avLst>
          </a:prstGeom>
          <a:solidFill>
            <a:srgbClr val="575757"/>
          </a:solidFill>
          <a:ln/>
        </p:spPr>
      </p:sp>
      <p:sp>
        <p:nvSpPr>
          <p:cNvPr id="21" name="Shape 18"/>
          <p:cNvSpPr/>
          <p:nvPr/>
        </p:nvSpPr>
        <p:spPr>
          <a:xfrm>
            <a:off x="718661" y="5217795"/>
            <a:ext cx="461963" cy="461963"/>
          </a:xfrm>
          <a:prstGeom prst="roundRect">
            <a:avLst>
              <a:gd name="adj" fmla="val 6668"/>
            </a:avLst>
          </a:prstGeom>
          <a:solidFill>
            <a:srgbClr val="3E3E3E"/>
          </a:solidFill>
          <a:ln/>
        </p:spPr>
      </p:sp>
      <p:sp>
        <p:nvSpPr>
          <p:cNvPr id="22" name="Text 19"/>
          <p:cNvSpPr/>
          <p:nvPr/>
        </p:nvSpPr>
        <p:spPr>
          <a:xfrm>
            <a:off x="795695" y="5256312"/>
            <a:ext cx="307896" cy="384929"/>
          </a:xfrm>
          <a:prstGeom prst="rect">
            <a:avLst/>
          </a:prstGeom>
          <a:noFill/>
          <a:ln/>
        </p:spPr>
        <p:txBody>
          <a:bodyPr wrap="none" lIns="0" tIns="0" rIns="0" bIns="0" rtlCol="0" anchor="t"/>
          <a:lstStyle/>
          <a:p>
            <a:pPr algn="ctr" indent="0" marL="0">
              <a:lnSpc>
                <a:spcPts val="2400"/>
              </a:lnSpc>
              <a:buNone/>
            </a:pPr>
            <a:r>
              <a:rPr lang="en-US" sz="2400" dirty="0">
                <a:solidFill>
                  <a:srgbClr val="BFBFBF"/>
                </a:solidFill>
                <a:latin typeface="Instrument Sans Medium" pitchFamily="34" charset="0"/>
                <a:ea typeface="Instrument Sans Medium" pitchFamily="34" charset="-122"/>
                <a:cs typeface="Instrument Sans Medium" pitchFamily="34" charset="-120"/>
              </a:rPr>
              <a:t>4</a:t>
            </a:r>
            <a:endParaRPr lang="en-US" sz="2400" dirty="0"/>
          </a:p>
        </p:txBody>
      </p:sp>
      <p:sp>
        <p:nvSpPr>
          <p:cNvPr id="23" name="Text 20"/>
          <p:cNvSpPr/>
          <p:nvPr/>
        </p:nvSpPr>
        <p:spPr>
          <a:xfrm>
            <a:off x="1976318" y="5288280"/>
            <a:ext cx="2566749" cy="320873"/>
          </a:xfrm>
          <a:prstGeom prst="rect">
            <a:avLst/>
          </a:prstGeom>
          <a:noFill/>
          <a:ln/>
        </p:spPr>
        <p:txBody>
          <a:bodyPr wrap="none" lIns="0" tIns="0" rIns="0" bIns="0" rtlCol="0" anchor="t"/>
          <a:lstStyle/>
          <a:p>
            <a:pPr algn="l" indent="0" marL="0">
              <a:lnSpc>
                <a:spcPts val="25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2025</a:t>
            </a:r>
            <a:endParaRPr lang="en-US" sz="2000" dirty="0"/>
          </a:p>
        </p:txBody>
      </p:sp>
      <p:sp>
        <p:nvSpPr>
          <p:cNvPr id="24" name="Text 21"/>
          <p:cNvSpPr/>
          <p:nvPr/>
        </p:nvSpPr>
        <p:spPr>
          <a:xfrm>
            <a:off x="1976318" y="5720596"/>
            <a:ext cx="6449020" cy="313015"/>
          </a:xfrm>
          <a:prstGeom prst="rect">
            <a:avLst/>
          </a:prstGeom>
          <a:noFill/>
          <a:ln/>
        </p:spPr>
        <p:txBody>
          <a:bodyPr wrap="none" lIns="0" tIns="0" rIns="0" bIns="0" rtlCol="0" anchor="t"/>
          <a:lstStyle/>
          <a:p>
            <a:pPr algn="l" indent="0" marL="0">
              <a:lnSpc>
                <a:spcPts val="2450"/>
              </a:lnSpc>
              <a:buNone/>
            </a:pPr>
            <a:r>
              <a:rPr lang="en-US" sz="1600" dirty="0">
                <a:solidFill>
                  <a:srgbClr val="BFBFBF"/>
                </a:solidFill>
                <a:latin typeface="Open Sans" pitchFamily="34" charset="0"/>
                <a:ea typeface="Open Sans" pitchFamily="34" charset="-122"/>
                <a:cs typeface="Open Sans" pitchFamily="34" charset="-120"/>
              </a:rPr>
              <a:t>AI suggestions cho commit messages</a:t>
            </a:r>
            <a:endParaRPr lang="en-US" sz="1600" dirty="0"/>
          </a:p>
        </p:txBody>
      </p:sp>
      <p:sp>
        <p:nvSpPr>
          <p:cNvPr id="25" name="Text 22"/>
          <p:cNvSpPr/>
          <p:nvPr/>
        </p:nvSpPr>
        <p:spPr>
          <a:xfrm>
            <a:off x="718661" y="6242685"/>
            <a:ext cx="7706678" cy="1252061"/>
          </a:xfrm>
          <a:prstGeom prst="rect">
            <a:avLst/>
          </a:prstGeom>
          <a:noFill/>
          <a:ln/>
        </p:spPr>
        <p:txBody>
          <a:bodyPr wrap="square" lIns="0" tIns="0" rIns="0" bIns="0" rtlCol="0" anchor="t"/>
          <a:lstStyle/>
          <a:p>
            <a:pPr algn="l" indent="0" marL="0">
              <a:lnSpc>
                <a:spcPts val="2450"/>
              </a:lnSpc>
              <a:buNone/>
            </a:pPr>
            <a:r>
              <a:rPr lang="en-US" sz="1600" i="1" dirty="0">
                <a:solidFill>
                  <a:srgbClr val="BFBFBF"/>
                </a:solidFill>
                <a:latin typeface="Open Sans" pitchFamily="34" charset="0"/>
                <a:ea typeface="Open Sans" pitchFamily="34" charset="-122"/>
                <a:cs typeface="Open Sans" pitchFamily="34" charset="-120"/>
              </a:rPr>
              <a:t>Speaker Notes: "Đây là roadmap ngắn hạn. Sắp tới sẽ hỗ trợ thêm GitLab và Bitbucket. Sau đó là web dashboard để xem release notes. Rồi tích hợp với các tools như Slack, Teams, Jira. Trong tương lai, AI sẽ suggest commit messages khi bạn code."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59706"/>
            <a:ext cx="5741194" cy="708779"/>
          </a:xfrm>
          <a:prstGeom prst="rect">
            <a:avLst/>
          </a:prstGeom>
          <a:noFill/>
          <a:ln/>
        </p:spPr>
        <p:txBody>
          <a:bodyPr wrap="none" lIns="0" tIns="0" rIns="0" bIns="0" rtlCol="0" anchor="t"/>
          <a:lstStyle/>
          <a:p>
            <a:pPr algn="l"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Bắt đầu ngay hôm nay</a:t>
            </a:r>
            <a:endParaRPr lang="en-US" sz="4450" dirty="0"/>
          </a:p>
        </p:txBody>
      </p:sp>
      <p:sp>
        <p:nvSpPr>
          <p:cNvPr id="3" name="Shape 1"/>
          <p:cNvSpPr/>
          <p:nvPr/>
        </p:nvSpPr>
        <p:spPr>
          <a:xfrm>
            <a:off x="793790" y="2622113"/>
            <a:ext cx="4196358" cy="1669852"/>
          </a:xfrm>
          <a:prstGeom prst="roundRect">
            <a:avLst>
              <a:gd name="adj" fmla="val 2038"/>
            </a:avLst>
          </a:prstGeom>
          <a:solidFill>
            <a:srgbClr val="F5F547"/>
          </a:solidFill>
          <a:ln/>
        </p:spPr>
      </p:sp>
      <p:sp>
        <p:nvSpPr>
          <p:cNvPr id="4" name="Text 2"/>
          <p:cNvSpPr/>
          <p:nvPr/>
        </p:nvSpPr>
        <p:spPr>
          <a:xfrm>
            <a:off x="1020604" y="284892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Instrument Sans Medium" pitchFamily="34" charset="0"/>
                <a:ea typeface="Instrument Sans Medium" pitchFamily="34" charset="-122"/>
                <a:cs typeface="Instrument Sans Medium" pitchFamily="34" charset="-120"/>
              </a:rPr>
              <a:t>Install Extension</a:t>
            </a:r>
            <a:endParaRPr lang="en-US" sz="2200" dirty="0"/>
          </a:p>
        </p:txBody>
      </p:sp>
      <p:sp>
        <p:nvSpPr>
          <p:cNvPr id="5" name="Text 3"/>
          <p:cNvSpPr/>
          <p:nvPr/>
        </p:nvSpPr>
        <p:spPr>
          <a:xfrm>
            <a:off x="1020604" y="3339346"/>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Open Sans" pitchFamily="34" charset="0"/>
                <a:ea typeface="Open Sans" pitchFamily="34" charset="-122"/>
                <a:cs typeface="Open Sans" pitchFamily="34" charset="-120"/>
              </a:rPr>
              <a:t>Thêm vào IDE hoặc CI/CD pipeline của bạn</a:t>
            </a:r>
            <a:endParaRPr lang="en-US" sz="1750" dirty="0"/>
          </a:p>
        </p:txBody>
      </p:sp>
      <p:sp>
        <p:nvSpPr>
          <p:cNvPr id="6" name="Shape 4"/>
          <p:cNvSpPr/>
          <p:nvPr/>
        </p:nvSpPr>
        <p:spPr>
          <a:xfrm>
            <a:off x="5216962" y="2622113"/>
            <a:ext cx="4196358" cy="1669852"/>
          </a:xfrm>
          <a:prstGeom prst="roundRect">
            <a:avLst>
              <a:gd name="adj" fmla="val 2038"/>
            </a:avLst>
          </a:prstGeom>
          <a:solidFill>
            <a:srgbClr val="F5F547"/>
          </a:solidFill>
          <a:ln/>
        </p:spPr>
      </p:sp>
      <p:sp>
        <p:nvSpPr>
          <p:cNvPr id="7" name="Text 5"/>
          <p:cNvSpPr/>
          <p:nvPr/>
        </p:nvSpPr>
        <p:spPr>
          <a:xfrm>
            <a:off x="5443776" y="284892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Instrument Sans Medium" pitchFamily="34" charset="0"/>
                <a:ea typeface="Instrument Sans Medium" pitchFamily="34" charset="-122"/>
                <a:cs typeface="Instrument Sans Medium" pitchFamily="34" charset="-120"/>
              </a:rPr>
              <a:t>Configure Template</a:t>
            </a:r>
            <a:endParaRPr lang="en-US" sz="2200" dirty="0"/>
          </a:p>
        </p:txBody>
      </p:sp>
      <p:sp>
        <p:nvSpPr>
          <p:cNvPr id="8" name="Text 6"/>
          <p:cNvSpPr/>
          <p:nvPr/>
        </p:nvSpPr>
        <p:spPr>
          <a:xfrm>
            <a:off x="5443776" y="3339346"/>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Open Sans" pitchFamily="34" charset="0"/>
                <a:ea typeface="Open Sans" pitchFamily="34" charset="-122"/>
                <a:cs typeface="Open Sans" pitchFamily="34" charset="-120"/>
              </a:rPr>
              <a:t>Thiết kế format release notes phù hợp với team</a:t>
            </a:r>
            <a:endParaRPr lang="en-US" sz="1750" dirty="0"/>
          </a:p>
        </p:txBody>
      </p:sp>
      <p:sp>
        <p:nvSpPr>
          <p:cNvPr id="9" name="Shape 7"/>
          <p:cNvSpPr/>
          <p:nvPr/>
        </p:nvSpPr>
        <p:spPr>
          <a:xfrm>
            <a:off x="9640133" y="2622113"/>
            <a:ext cx="4196358" cy="1669852"/>
          </a:xfrm>
          <a:prstGeom prst="roundRect">
            <a:avLst>
              <a:gd name="adj" fmla="val 2038"/>
            </a:avLst>
          </a:prstGeom>
          <a:solidFill>
            <a:srgbClr val="F5F547"/>
          </a:solidFill>
          <a:ln/>
        </p:spPr>
      </p:sp>
      <p:sp>
        <p:nvSpPr>
          <p:cNvPr id="10" name="Text 8"/>
          <p:cNvSpPr/>
          <p:nvPr/>
        </p:nvSpPr>
        <p:spPr>
          <a:xfrm>
            <a:off x="9866948" y="284892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Instrument Sans Medium" pitchFamily="34" charset="0"/>
                <a:ea typeface="Instrument Sans Medium" pitchFamily="34" charset="-122"/>
                <a:cs typeface="Instrument Sans Medium" pitchFamily="34" charset="-120"/>
              </a:rPr>
              <a:t>Automate Releases</a:t>
            </a:r>
            <a:endParaRPr lang="en-US" sz="2200" dirty="0"/>
          </a:p>
        </p:txBody>
      </p:sp>
      <p:sp>
        <p:nvSpPr>
          <p:cNvPr id="11" name="Text 9"/>
          <p:cNvSpPr/>
          <p:nvPr/>
        </p:nvSpPr>
        <p:spPr>
          <a:xfrm>
            <a:off x="9866948" y="3339346"/>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Open Sans" pitchFamily="34" charset="0"/>
                <a:ea typeface="Open Sans" pitchFamily="34" charset="-122"/>
                <a:cs typeface="Open Sans" pitchFamily="34" charset="-120"/>
              </a:rPr>
              <a:t>Integrate vào pipeline và tận hưởng</a:t>
            </a:r>
            <a:endParaRPr lang="en-US" sz="1750" dirty="0"/>
          </a:p>
        </p:txBody>
      </p:sp>
      <p:sp>
        <p:nvSpPr>
          <p:cNvPr id="12" name="Text 10"/>
          <p:cNvSpPr/>
          <p:nvPr/>
        </p:nvSpPr>
        <p:spPr>
          <a:xfrm>
            <a:off x="793790" y="454711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Liên hệ để có demo tùy chỉnh cho team của bạn</a:t>
            </a:r>
            <a:endParaRPr lang="en-US" sz="1750" dirty="0"/>
          </a:p>
        </p:txBody>
      </p:sp>
      <p:pic>
        <p:nvPicPr>
          <p:cNvPr id="13" name="Image 0" descr="preencoded.png">    </p:cNvPr>
          <p:cNvPicPr>
            <a:picLocks noChangeAspect="1"/>
          </p:cNvPicPr>
          <p:nvPr/>
        </p:nvPicPr>
        <p:blipFill>
          <a:blip r:embed="rId1"/>
          <a:stretch>
            <a:fillRect/>
          </a:stretch>
        </p:blipFill>
        <p:spPr>
          <a:xfrm>
            <a:off x="793790" y="5165169"/>
            <a:ext cx="2740938" cy="623768"/>
          </a:xfrm>
          <a:prstGeom prst="rect">
            <a:avLst/>
          </a:prstGeom>
        </p:spPr>
      </p:pic>
      <p:pic>
        <p:nvPicPr>
          <p:cNvPr id="14" name="Image 1" descr="preencoded.png">    </p:cNvPr>
          <p:cNvPicPr>
            <a:picLocks noChangeAspect="1"/>
          </p:cNvPicPr>
          <p:nvPr/>
        </p:nvPicPr>
        <p:blipFill>
          <a:blip r:embed="rId2"/>
          <a:stretch>
            <a:fillRect/>
          </a:stretch>
        </p:blipFill>
        <p:spPr>
          <a:xfrm>
            <a:off x="3648075" y="5165169"/>
            <a:ext cx="2154793" cy="623768"/>
          </a:xfrm>
          <a:prstGeom prst="rect">
            <a:avLst/>
          </a:prstGeom>
        </p:spPr>
      </p:pic>
      <p:sp>
        <p:nvSpPr>
          <p:cNvPr id="15" name="Text 11"/>
          <p:cNvSpPr/>
          <p:nvPr/>
        </p:nvSpPr>
        <p:spPr>
          <a:xfrm>
            <a:off x="793790" y="6044089"/>
            <a:ext cx="13042821" cy="725805"/>
          </a:xfrm>
          <a:prstGeom prst="rect">
            <a:avLst/>
          </a:prstGeom>
          <a:noFill/>
          <a:ln/>
        </p:spPr>
        <p:txBody>
          <a:bodyPr wrap="square" lIns="0" tIns="0" rIns="0" bIns="0" rtlCol="0" anchor="t"/>
          <a:lstStyle/>
          <a:p>
            <a:pPr algn="l" indent="0" marL="0">
              <a:lnSpc>
                <a:spcPts val="2850"/>
              </a:lnSpc>
              <a:buNone/>
            </a:pPr>
            <a:r>
              <a:rPr lang="en-US" sz="1750" i="1" dirty="0">
                <a:solidFill>
                  <a:srgbClr val="BFBFBF"/>
                </a:solidFill>
                <a:latin typeface="Open Sans" pitchFamily="34" charset="0"/>
                <a:ea typeface="Open Sans" pitchFamily="34" charset="-122"/>
                <a:cs typeface="Open Sans" pitchFamily="34" charset="-120"/>
              </a:rPr>
              <a:t>Speaker Notes: "Việc setup rất đơn giản. Chỉ cần install extension, configure template, và integrate vào pipeline. Team của bạn sẽ bắt đầu tiết kiệm thời gian ngay lập tức. Liên hệ để có demo tùy chỉnh."</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2026-03-19T12:20:58Z</dcterms:created>
  <dcterms:modified xsi:type="dcterms:W3CDTF">2026-03-19T12:20:58Z</dcterms:modified>
</cp:coreProperties>
</file>